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11278800" cy="0"/>
          </a:xfrm>
          <a:prstGeom prst="rect">
            <a:avLst/>
          </a:prstGeom>
        </p:spPr>
        <p:txBody>
          <a:bodyPr/>
          <a:lstStyle/>
          <a:p>
            <a:endParaRPr lang="hi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8800" cy="1143000"/>
          </a:xfrm>
          <a:prstGeom prst="rect">
            <a:avLst/>
          </a:prstGeom>
        </p:spPr>
        <p:txBody>
          <a:bodyPr/>
          <a:lstStyle/>
          <a:p>
            <a:endParaRPr 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defRPr sz="4400" kern="1200">
          <a:solidFill>
            <a:schemeClr val="tx1"/>
          </a:solidFill>
          <a:latin typeface="Nirmala UI"/>
          <a:ea typeface="Nirmala UI"/>
          <a:cs typeface="Nirmala UI"/>
        </a:defRPr>
      </a:lvl1pPr>
    </p:titleStyle>
    <p:bodyStyle>
      <a:lvl1pPr marL="0" indent="0" algn="l" defTabSz="914400" rtl="0" eaLnBrk="1" latinLnBrk="0" hangingPunct="1">
        <a:defRPr sz="1800" kern="1200">
          <a:solidFill>
            <a:schemeClr val="tx1"/>
          </a:solidFill>
          <a:latin typeface="Nirmala UI"/>
          <a:ea typeface="Nirmala UI"/>
          <a:cs typeface="Nirmala UI"/>
        </a:defRPr>
      </a:lvl1pPr>
      <a:lvl2pPr marL="457200" indent="0" algn="l" defTabSz="914400" rtl="0" eaLnBrk="1" latinLnBrk="0" hangingPunct="1">
        <a:defRPr sz="1600" kern="1200">
          <a:solidFill>
            <a:schemeClr val="tx1"/>
          </a:solidFill>
          <a:latin typeface="Nirmala UI"/>
          <a:ea typeface="Nirmala UI"/>
          <a:cs typeface="Nirmala UI"/>
        </a:defRPr>
      </a:lvl2pPr>
      <a:lvl3pPr marL="9144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3pPr>
      <a:lvl4pPr marL="13716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4pPr>
      <a:lvl5pPr marL="18288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5pPr>
      <a:lvl6pPr marL="22860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6pPr>
      <a:lvl7pPr marL="27432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7pPr>
      <a:lvl8pPr marL="32004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8pPr>
      <a:lvl9pPr marL="36576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9pPr>
    </p:bodyStyle>
    <p:otherStyle>
      <a:lvl1pPr marL="0" indent="0" algn="l" defTabSz="914400" rtl="0" eaLnBrk="1" latinLnBrk="0" hangingPunct="1">
        <a:defRPr sz="1800" kern="1200">
          <a:solidFill>
            <a:schemeClr val="tx1"/>
          </a:solidFill>
          <a:latin typeface="Nirmala UI"/>
          <a:ea typeface="Nirmala UI"/>
          <a:cs typeface="Nirmala UI"/>
        </a:defRPr>
      </a:lvl1pPr>
      <a:lvl2pPr marL="457200" indent="0" algn="l" defTabSz="914400" rtl="0" eaLnBrk="1" latinLnBrk="0" hangingPunct="1">
        <a:defRPr sz="1600" kern="1200">
          <a:solidFill>
            <a:schemeClr val="tx1"/>
          </a:solidFill>
          <a:latin typeface="Nirmala UI"/>
          <a:ea typeface="Nirmala UI"/>
          <a:cs typeface="Nirmala UI"/>
        </a:defRPr>
      </a:lvl2pPr>
      <a:lvl3pPr marL="9144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3pPr>
      <a:lvl4pPr marL="13716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4pPr>
      <a:lvl5pPr marL="18288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5pPr>
      <a:lvl6pPr marL="22860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6pPr>
      <a:lvl7pPr marL="27432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7pPr>
      <a:lvl8pPr marL="32004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8pPr>
      <a:lvl9pPr marL="3657600" indent="0" algn="l" defTabSz="914400" rtl="0" eaLnBrk="1" latinLnBrk="0" hangingPunct="1">
        <a:defRPr sz="1400" kern="1200">
          <a:solidFill>
            <a:schemeClr val="tx1"/>
          </a:solidFill>
          <a:latin typeface="Nirmala UI"/>
          <a:ea typeface="Nirmala UI"/>
          <a:cs typeface="Nirmala UI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lob"/>
          <p:cNvSpPr/>
          <p:nvPr/>
        </p:nvSpPr>
        <p:spPr>
          <a:xfrm>
            <a:off x="-1280160" y="-1463040"/>
            <a:ext cx="4754880" cy="4754880"/>
          </a:xfrm>
          <a:prstGeom prst="ellipse">
            <a:avLst/>
          </a:prstGeom>
          <a:solidFill>
            <a:srgbClr val="FF7A18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lob"/>
          <p:cNvSpPr/>
          <p:nvPr/>
        </p:nvSpPr>
        <p:spPr>
          <a:xfrm>
            <a:off x="9326880" y="3840480"/>
            <a:ext cx="4389120" cy="4389120"/>
          </a:xfrm>
          <a:prstGeom prst="ellipse">
            <a:avLst/>
          </a:prstGeom>
          <a:solidFill>
            <a:srgbClr val="FFC53D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lob"/>
          <p:cNvSpPr/>
          <p:nvPr/>
        </p:nvSpPr>
        <p:spPr>
          <a:xfrm>
            <a:off x="8778240" y="-1005840"/>
            <a:ext cx="3291840" cy="3291840"/>
          </a:xfrm>
          <a:prstGeom prst="ellipse">
            <a:avLst/>
          </a:prstGeom>
          <a:solidFill>
            <a:srgbClr val="E11D74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lob"/>
          <p:cNvSpPr/>
          <p:nvPr/>
        </p:nvSpPr>
        <p:spPr>
          <a:xfrm>
            <a:off x="-731520" y="4937760"/>
            <a:ext cx="2926080" cy="2926080"/>
          </a:xfrm>
          <a:prstGeom prst="ellipse">
            <a:avLst/>
          </a:prstGeom>
          <a:solidFill>
            <a:srgbClr val="0D9B8A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"/>
          <p:cNvSpPr txBox="1"/>
          <p:nvPr/>
        </p:nvSpPr>
        <p:spPr>
          <a:xfrm>
            <a:off x="640080" y="1051560"/>
            <a:ext cx="4023360" cy="475488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  EPISODE  01  •  FIRST CLASS</a:t>
            </a:r>
            <a:endParaRPr lang="hi-IN" sz="1400"/>
          </a:p>
        </p:txBody>
      </p:sp>
      <p:sp>
        <p:nvSpPr>
          <p:cNvPr id="10" name="ch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0" rIns="20000" bIns="0" rtlCol="0" anchor="ctr">
            <a:spAutoFit/>
          </a:bodyPr>
          <a:lstStyle/>
          <a:p>
            <a:pPr algn="l"/>
            <a:r>
              <a:rPr lang="hi-IN" altLang="en-US" sz="18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कक्षा 10  •  सामाजिक विज्ञान  •  अर्थशास्त्र</a:t>
            </a:r>
            <a:endParaRPr lang="hi-IN" sz="1800"/>
          </a:p>
        </p:txBody>
      </p:sp>
      <p:sp>
        <p:nvSpPr>
          <p:cNvPr id="11" name="main"/>
          <p:cNvSpPr txBox="1"/>
          <p:nvPr/>
        </p:nvSpPr>
        <p:spPr>
          <a:xfrm>
            <a:off x="640080" y="2240280"/>
            <a:ext cx="10972800" cy="182880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/>
            <a:r>
              <a:rPr lang="hi-IN" altLang="en-US" sz="40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अर्थव्यवस्था एवं इसके</a:t>
            </a:r>
            <a:endParaRPr lang="hi-IN" sz="4000"/>
          </a:p>
          <a:p>
            <a:pPr algn="l"/>
            <a:r>
              <a:rPr lang="hi-IN" altLang="en-US" sz="40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विकास का इतिहास</a:t>
            </a:r>
            <a:endParaRPr lang="hi-IN" sz="4000"/>
          </a:p>
        </p:txBody>
      </p:sp>
      <p:sp>
        <p:nvSpPr>
          <p:cNvPr id="12" name="sub"/>
          <p:cNvSpPr txBox="1"/>
          <p:nvPr/>
        </p:nvSpPr>
        <p:spPr>
          <a:xfrm>
            <a:off x="640080" y="4160520"/>
            <a:ext cx="10515600" cy="64008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FFD9A8"/>
                </a:solidFill>
                <a:latin typeface="Nirmala UI"/>
                <a:ea typeface="Nirmala UI"/>
                <a:cs typeface="Nirmala UI"/>
              </a:rPr>
              <a:t>पहला एपिसोड  •  15 महत्वपूर्ण MCQ  •  आसान व्याख्या  •  बोर्ड परीक्षा फोकस</a:t>
            </a:r>
            <a:endParaRPr lang="hi-IN" sz="1800"/>
          </a:p>
        </p:txBody>
      </p:sp>
      <p:sp>
        <p:nvSpPr>
          <p:cNvPr id="13" name="cta"/>
          <p:cNvSpPr txBox="1"/>
          <p:nvPr/>
        </p:nvSpPr>
        <p:spPr>
          <a:xfrm>
            <a:off x="640080" y="4983480"/>
            <a:ext cx="5852160" cy="64008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ctr"/>
            <a:r>
              <a:rPr lang="hi-IN" altLang="en-US" sz="24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2400"/>
          </a:p>
        </p:txBody>
      </p:sp>
      <p:sp>
        <p:nvSpPr>
          <p:cNvPr id="14" name="inst"/>
          <p:cNvSpPr txBox="1"/>
          <p:nvPr/>
        </p:nvSpPr>
        <p:spPr>
          <a:xfrm>
            <a:off x="6675120" y="5029200"/>
            <a:ext cx="4754880" cy="54864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संस्थान  •  YouTube चैनल  •  टेस्ट सीरीज़</a:t>
            </a:r>
            <a:endParaRPr lang="hi-IN" sz="1400"/>
          </a:p>
        </p:txBody>
      </p:sp>
      <p:sp>
        <p:nvSpPr>
          <p:cNvPr id="4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4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FFD9A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स्वागत है आपकी पहली कक्षा में</a:t>
            </a:r>
            <a:endParaRPr lang="hi-IN" sz="1400"/>
          </a:p>
        </p:txBody>
      </p:sp>
      <p:sp>
        <p:nvSpPr>
          <p:cNvPr id="10" name="blob"/>
          <p:cNvSpPr/>
          <p:nvPr/>
        </p:nvSpPr>
        <p:spPr>
          <a:xfrm>
            <a:off x="9875520" y="4389120"/>
            <a:ext cx="3108960" cy="3108960"/>
          </a:xfrm>
          <a:prstGeom prst="ellipse">
            <a:avLst/>
          </a:prstGeom>
          <a:solidFill>
            <a:srgbClr val="FF7A18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"/>
          <p:cNvSpPr/>
          <p:nvPr/>
        </p:nvSpPr>
        <p:spPr>
          <a:xfrm>
            <a:off x="411480" y="1097280"/>
            <a:ext cx="5577840" cy="2286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"/>
          <p:cNvSpPr txBox="1"/>
          <p:nvPr/>
        </p:nvSpPr>
        <p:spPr>
          <a:xfrm>
            <a:off x="640080" y="13258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40000" tIns="15000" rIns="40000" bIns="15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क्या मिलेगा</a:t>
            </a:r>
            <a:endParaRPr lang="hi-IN" sz="2000"/>
          </a:p>
        </p:txBody>
      </p:sp>
      <p:sp>
        <p:nvSpPr>
          <p:cNvPr id="22" name="b"/>
          <p:cNvSpPr txBox="1"/>
          <p:nvPr/>
        </p:nvSpPr>
        <p:spPr>
          <a:xfrm>
            <a:off x="640080" y="2011680"/>
            <a:ext cx="5120640" cy="1097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/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बोर्ड परीक्षा जैसे MCQ, सही उत्तर और 2–3 लाइन की आसान व्याख्या।</a:t>
            </a:r>
            <a:endParaRPr lang="hi-IN" sz="1600"/>
          </a:p>
        </p:txBody>
      </p:sp>
      <p:sp>
        <p:nvSpPr>
          <p:cNvPr id="23" name="c"/>
          <p:cNvSpPr/>
          <p:nvPr/>
        </p:nvSpPr>
        <p:spPr>
          <a:xfrm>
            <a:off x="6263640" y="1097280"/>
            <a:ext cx="5577840" cy="2286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"/>
          <p:cNvSpPr txBox="1"/>
          <p:nvPr/>
        </p:nvSpPr>
        <p:spPr>
          <a:xfrm>
            <a:off x="6492240" y="13258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40000" tIns="15000" rIns="40000" bIns="15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कौन सा अध्याय</a:t>
            </a:r>
            <a:endParaRPr lang="hi-IN" sz="2000"/>
          </a:p>
        </p:txBody>
      </p:sp>
      <p:sp>
        <p:nvSpPr>
          <p:cNvPr id="25" name="b"/>
          <p:cNvSpPr txBox="1"/>
          <p:nvPr/>
        </p:nvSpPr>
        <p:spPr>
          <a:xfrm>
            <a:off x="6492240" y="2011680"/>
            <a:ext cx="5120640" cy="1097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/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अर्थव्यवस्था एवं इसके विकास का इतिहास — कक्षा 10 सामाजिक विज्ञान।</a:t>
            </a:r>
            <a:endParaRPr lang="hi-IN" sz="1600"/>
          </a:p>
        </p:txBody>
      </p:sp>
      <p:sp>
        <p:nvSpPr>
          <p:cNvPr id="26" name="c"/>
          <p:cNvSpPr/>
          <p:nvPr/>
        </p:nvSpPr>
        <p:spPr>
          <a:xfrm>
            <a:off x="411480" y="3611880"/>
            <a:ext cx="5577840" cy="2286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"/>
          <p:cNvSpPr txBox="1"/>
          <p:nvPr/>
        </p:nvSpPr>
        <p:spPr>
          <a:xfrm>
            <a:off x="640080" y="38404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0D9B8A"/>
          </a:solidFill>
          <a:ln>
            <a:noFill/>
          </a:ln>
        </p:spPr>
        <p:txBody>
          <a:bodyPr wrap="square" lIns="40000" tIns="15000" rIns="40000" bIns="15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किसके साथ</a:t>
            </a:r>
            <a:endParaRPr lang="hi-IN" sz="2000"/>
          </a:p>
        </p:txBody>
      </p:sp>
      <p:sp>
        <p:nvSpPr>
          <p:cNvPr id="28" name="b"/>
          <p:cNvSpPr txBox="1"/>
          <p:nvPr/>
        </p:nvSpPr>
        <p:spPr>
          <a:xfrm>
            <a:off x="640080" y="4526280"/>
            <a:ext cx="5120640" cy="1097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/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Bihar Board Wala — आपका संस्थान और YouTube चैनल।</a:t>
            </a:r>
            <a:endParaRPr lang="hi-IN" sz="1600"/>
          </a:p>
        </p:txBody>
      </p:sp>
      <p:sp>
        <p:nvSpPr>
          <p:cNvPr id="29" name="c"/>
          <p:cNvSpPr/>
          <p:nvPr/>
        </p:nvSpPr>
        <p:spPr>
          <a:xfrm>
            <a:off x="6263640" y="3611880"/>
            <a:ext cx="5577840" cy="2286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"/>
          <p:cNvSpPr txBox="1"/>
          <p:nvPr/>
        </p:nvSpPr>
        <p:spPr>
          <a:xfrm>
            <a:off x="6492240" y="38404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E11D74"/>
          </a:solidFill>
          <a:ln>
            <a:noFill/>
          </a:ln>
        </p:spPr>
        <p:txBody>
          <a:bodyPr wrap="square" lIns="40000" tIns="15000" rIns="40000" bIns="15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कैसे पढ़ें</a:t>
            </a:r>
            <a:endParaRPr lang="hi-IN" sz="2000"/>
          </a:p>
        </p:txBody>
      </p:sp>
      <p:sp>
        <p:nvSpPr>
          <p:cNvPr id="31" name="b"/>
          <p:cNvSpPr txBox="1"/>
          <p:nvPr/>
        </p:nvSpPr>
        <p:spPr>
          <a:xfrm>
            <a:off x="6492240" y="4526280"/>
            <a:ext cx="5120640" cy="1097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/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पहले सोचें, फिर उत्तर देखें। तथ्यों को याद रखें, रटें नहीं।</a:t>
            </a:r>
            <a:endParaRPr lang="hi-IN" sz="16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आज की कक्षा का नक्शा</a:t>
            </a:r>
            <a:endParaRPr lang="hi-IN" sz="1400"/>
          </a:p>
        </p:txBody>
      </p:sp>
      <p:sp>
        <p:nvSpPr>
          <p:cNvPr id="20" name="row"/>
          <p:cNvSpPr/>
          <p:nvPr/>
        </p:nvSpPr>
        <p:spPr>
          <a:xfrm>
            <a:off x="411480" y="1051560"/>
            <a:ext cx="11338560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n"/>
          <p:cNvSpPr txBox="1"/>
          <p:nvPr/>
        </p:nvSpPr>
        <p:spPr>
          <a:xfrm>
            <a:off x="594360" y="1197864"/>
            <a:ext cx="1051560" cy="603504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01</a:t>
            </a:r>
            <a:endParaRPr lang="hi-IN" sz="2000"/>
          </a:p>
        </p:txBody>
      </p:sp>
      <p:sp>
        <p:nvSpPr>
          <p:cNvPr id="22" name="tx"/>
          <p:cNvSpPr txBox="1"/>
          <p:nvPr/>
        </p:nvSpPr>
        <p:spPr>
          <a:xfrm>
            <a:off x="1874519" y="1124712"/>
            <a:ext cx="9509760" cy="7498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आधार अवधारणा</a:t>
            </a:r>
            <a:endParaRPr lang="hi-IN" sz="2000"/>
          </a:p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अर्थव्यवस्था, तीन क्षेत्र, मिश्रित बनाम पूँजीवादी</a:t>
            </a:r>
            <a:endParaRPr lang="hi-IN" sz="1400"/>
          </a:p>
        </p:txBody>
      </p:sp>
      <p:sp>
        <p:nvSpPr>
          <p:cNvPr id="23" name="row"/>
          <p:cNvSpPr/>
          <p:nvPr/>
        </p:nvSpPr>
        <p:spPr>
          <a:xfrm>
            <a:off x="411480" y="2057400"/>
            <a:ext cx="11338560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"/>
          <p:cNvSpPr txBox="1"/>
          <p:nvPr/>
        </p:nvSpPr>
        <p:spPr>
          <a:xfrm>
            <a:off x="594360" y="2203704"/>
            <a:ext cx="1051560" cy="603504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02</a:t>
            </a:r>
            <a:endParaRPr lang="hi-IN" sz="2000"/>
          </a:p>
        </p:txBody>
      </p:sp>
      <p:sp>
        <p:nvSpPr>
          <p:cNvPr id="25" name="tx"/>
          <p:cNvSpPr txBox="1"/>
          <p:nvPr/>
        </p:nvSpPr>
        <p:spPr>
          <a:xfrm>
            <a:off x="1874519" y="2130552"/>
            <a:ext cx="9509760" cy="7498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संस्थाएँ व तिथियाँ</a:t>
            </a:r>
            <a:endParaRPr lang="hi-IN" sz="2000"/>
          </a:p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योजना आयोग, NDC, ATM, प्रति व्यक्ति आय</a:t>
            </a:r>
            <a:endParaRPr lang="hi-IN" sz="1400"/>
          </a:p>
        </p:txBody>
      </p:sp>
      <p:sp>
        <p:nvSpPr>
          <p:cNvPr id="26" name="row"/>
          <p:cNvSpPr/>
          <p:nvPr/>
        </p:nvSpPr>
        <p:spPr>
          <a:xfrm>
            <a:off x="411480" y="3063240"/>
            <a:ext cx="11338560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n"/>
          <p:cNvSpPr txBox="1"/>
          <p:nvPr/>
        </p:nvSpPr>
        <p:spPr>
          <a:xfrm>
            <a:off x="594360" y="3209544"/>
            <a:ext cx="1051560" cy="603504"/>
          </a:xfrm>
          <a:prstGeom prst="roundRect">
            <a:avLst>
              <a:gd name="adj" fmla="val 50000"/>
            </a:avLst>
          </a:prstGeom>
          <a:solidFill>
            <a:srgbClr val="0D9B8A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03</a:t>
            </a:r>
            <a:endParaRPr lang="hi-IN" sz="2000"/>
          </a:p>
        </p:txBody>
      </p:sp>
      <p:sp>
        <p:nvSpPr>
          <p:cNvPr id="28" name="tx"/>
          <p:cNvSpPr txBox="1"/>
          <p:nvPr/>
        </p:nvSpPr>
        <p:spPr>
          <a:xfrm>
            <a:off x="1874519" y="3136392"/>
            <a:ext cx="9509760" cy="7498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बिहार फोकस</a:t>
            </a:r>
            <a:endParaRPr lang="hi-IN" sz="2000"/>
          </a:p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कृषि आधार और NREGA — 100 दिन</a:t>
            </a:r>
            <a:endParaRPr lang="hi-IN" sz="1400"/>
          </a:p>
        </p:txBody>
      </p:sp>
      <p:sp>
        <p:nvSpPr>
          <p:cNvPr id="29" name="row"/>
          <p:cNvSpPr/>
          <p:nvPr/>
        </p:nvSpPr>
        <p:spPr>
          <a:xfrm>
            <a:off x="411480" y="4069080"/>
            <a:ext cx="11338560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"/>
          <p:cNvSpPr txBox="1"/>
          <p:nvPr/>
        </p:nvSpPr>
        <p:spPr>
          <a:xfrm>
            <a:off x="594360" y="4215384"/>
            <a:ext cx="1051560" cy="603504"/>
          </a:xfrm>
          <a:prstGeom prst="roundRect">
            <a:avLst>
              <a:gd name="adj" fmla="val 50000"/>
            </a:avLst>
          </a:prstGeom>
          <a:solidFill>
            <a:srgbClr val="E11D74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04</a:t>
            </a:r>
            <a:endParaRPr lang="hi-IN" sz="2000"/>
          </a:p>
        </p:txBody>
      </p:sp>
      <p:sp>
        <p:nvSpPr>
          <p:cNvPr id="31" name="tx"/>
          <p:cNvSpPr txBox="1"/>
          <p:nvPr/>
        </p:nvSpPr>
        <p:spPr>
          <a:xfrm>
            <a:off x="1874519" y="4142232"/>
            <a:ext cx="9509760" cy="7498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15 MCQ राउंड</a:t>
            </a:r>
            <a:endParaRPr lang="hi-IN" sz="2000"/>
          </a:p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प्रश्न देखें → सोचें → उत्तर व व्याख्या</a:t>
            </a:r>
            <a:endParaRPr lang="hi-IN" sz="1400"/>
          </a:p>
        </p:txBody>
      </p:sp>
      <p:sp>
        <p:nvSpPr>
          <p:cNvPr id="32" name="row"/>
          <p:cNvSpPr/>
          <p:nvPr/>
        </p:nvSpPr>
        <p:spPr>
          <a:xfrm>
            <a:off x="411480" y="5074920"/>
            <a:ext cx="11338560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n"/>
          <p:cNvSpPr txBox="1"/>
          <p:nvPr/>
        </p:nvSpPr>
        <p:spPr>
          <a:xfrm>
            <a:off x="594360" y="5221224"/>
            <a:ext cx="1051560" cy="603504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05</a:t>
            </a:r>
            <a:endParaRPr lang="hi-IN" sz="2000"/>
          </a:p>
        </p:txBody>
      </p:sp>
      <p:sp>
        <p:nvSpPr>
          <p:cNvPr id="34" name="tx"/>
          <p:cNvSpPr txBox="1"/>
          <p:nvPr/>
        </p:nvSpPr>
        <p:spPr>
          <a:xfrm>
            <a:off x="1874519" y="5148072"/>
            <a:ext cx="9509760" cy="7498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त्वरित रिविज़न</a:t>
            </a:r>
            <a:endParaRPr lang="hi-IN" sz="2000"/>
          </a:p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उत्तर कुंजी + परीक्षा टिप</a:t>
            </a:r>
            <a:endParaRPr lang="hi-IN" sz="14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याद रखें — अर्थव्यवस्था के तीन क्षेत्र</a:t>
            </a:r>
            <a:endParaRPr lang="hi-IN" sz="1400"/>
          </a:p>
        </p:txBody>
      </p:sp>
      <p:sp>
        <p:nvSpPr>
          <p:cNvPr id="20" name="card"/>
          <p:cNvSpPr/>
          <p:nvPr/>
        </p:nvSpPr>
        <p:spPr>
          <a:xfrm>
            <a:off x="365760" y="1097280"/>
            <a:ext cx="3749039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op"/>
          <p:cNvSpPr txBox="1"/>
          <p:nvPr/>
        </p:nvSpPr>
        <p:spPr>
          <a:xfrm>
            <a:off x="365760" y="1097280"/>
            <a:ext cx="3749039" cy="1417320"/>
          </a:xfrm>
          <a:prstGeom prst="roundRect">
            <a:avLst>
              <a:gd name="adj" fmla="val 0"/>
            </a:avLst>
          </a:prstGeom>
          <a:solidFill>
            <a:srgbClr val="FF7A18"/>
          </a:solidFill>
          <a:ln>
            <a:noFill/>
          </a:ln>
        </p:spPr>
        <p:txBody>
          <a:bodyPr wrap="square" lIns="40000" tIns="40000" rIns="40000" bIns="40000" rtlCol="0" anchor="ctr">
            <a:spAutoFit/>
          </a:bodyPr>
          <a:lstStyle/>
          <a:p>
            <a:pPr algn="ctr"/>
            <a:r>
              <a:rPr lang="hi-IN" altLang="en-US" sz="26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प्राथमिक</a:t>
            </a:r>
            <a:endParaRPr lang="hi-IN" sz="2600"/>
          </a:p>
        </p:txBody>
      </p:sp>
      <p:sp>
        <p:nvSpPr>
          <p:cNvPr id="22" name="sub"/>
          <p:cNvSpPr txBox="1"/>
          <p:nvPr/>
        </p:nvSpPr>
        <p:spPr>
          <a:xfrm>
            <a:off x="548640" y="2697480"/>
            <a:ext cx="33832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10000" rIns="20000" bIns="10000" rtlCol="0" anchor="t">
            <a:spAutoFit/>
          </a:bodyPr>
          <a:lstStyle/>
          <a:p>
            <a:pPr algn="ctr"/>
            <a:r>
              <a:rPr lang="hi-IN" altLang="en-US" sz="16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प्राकृतिक संसाधनों से सीधा उत्पादन</a:t>
            </a:r>
            <a:endParaRPr lang="hi-IN" sz="1600"/>
          </a:p>
        </p:txBody>
      </p:sp>
      <p:sp>
        <p:nvSpPr>
          <p:cNvPr id="23" name="ex"/>
          <p:cNvSpPr txBox="1"/>
          <p:nvPr/>
        </p:nvSpPr>
        <p:spPr>
          <a:xfrm>
            <a:off x="594360" y="3840480"/>
            <a:ext cx="3291840" cy="1920240"/>
          </a:xfrm>
          <a:prstGeom prst="roundRect">
            <a:avLst>
              <a:gd name="adj" fmla="val 16000"/>
            </a:avLst>
          </a:prstGeom>
          <a:solidFill>
            <a:srgbClr val="FFE8CC"/>
          </a:solidFill>
          <a:ln>
            <a:noFill/>
          </a:ln>
        </p:spPr>
        <p:txBody>
          <a:bodyPr wrap="square" lIns="50000" tIns="40000" rIns="50000" bIns="40000" rtlCol="0" anchor="ctr">
            <a:spAutoFit/>
          </a:bodyPr>
          <a:lstStyle/>
          <a:p>
            <a:pPr algn="ctr"/>
            <a:r>
              <a:rPr lang="hi-IN" altLang="en-US" sz="15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कृषि  •  पशुपालन  •  मछली पालन  •  वानिकी  •  खनन</a:t>
            </a:r>
            <a:endParaRPr lang="hi-IN" sz="1500"/>
          </a:p>
        </p:txBody>
      </p:sp>
      <p:sp>
        <p:nvSpPr>
          <p:cNvPr id="24" name="card"/>
          <p:cNvSpPr/>
          <p:nvPr/>
        </p:nvSpPr>
        <p:spPr>
          <a:xfrm>
            <a:off x="4297680" y="1097280"/>
            <a:ext cx="3749039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op"/>
          <p:cNvSpPr txBox="1"/>
          <p:nvPr/>
        </p:nvSpPr>
        <p:spPr>
          <a:xfrm>
            <a:off x="4297680" y="1097280"/>
            <a:ext cx="3749039" cy="1417320"/>
          </a:xfrm>
          <a:prstGeom prst="roundRect">
            <a:avLst>
              <a:gd name="adj" fmla="val 0"/>
            </a:avLst>
          </a:prstGeom>
          <a:solidFill>
            <a:srgbClr val="4C2FB8"/>
          </a:solidFill>
          <a:ln>
            <a:noFill/>
          </a:ln>
        </p:spPr>
        <p:txBody>
          <a:bodyPr wrap="square" lIns="40000" tIns="40000" rIns="40000" bIns="40000" rtlCol="0" anchor="ctr">
            <a:spAutoFit/>
          </a:bodyPr>
          <a:lstStyle/>
          <a:p>
            <a:pPr algn="ctr"/>
            <a:r>
              <a:rPr lang="hi-IN" altLang="en-US" sz="26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द्वितीयक</a:t>
            </a:r>
            <a:endParaRPr lang="hi-IN" sz="2600"/>
          </a:p>
        </p:txBody>
      </p:sp>
      <p:sp>
        <p:nvSpPr>
          <p:cNvPr id="26" name="sub"/>
          <p:cNvSpPr txBox="1"/>
          <p:nvPr/>
        </p:nvSpPr>
        <p:spPr>
          <a:xfrm>
            <a:off x="4480560" y="2697480"/>
            <a:ext cx="33832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10000" rIns="20000" bIns="10000" rtlCol="0" anchor="t">
            <a:spAutoFit/>
          </a:bodyPr>
          <a:lstStyle/>
          <a:p>
            <a:pPr algn="ctr"/>
            <a:r>
              <a:rPr lang="hi-IN" altLang="en-US" sz="16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औद्योगिक क्षेत्र — कच्चे माल से वस्तु</a:t>
            </a:r>
            <a:endParaRPr lang="hi-IN" sz="1600"/>
          </a:p>
        </p:txBody>
      </p:sp>
      <p:sp>
        <p:nvSpPr>
          <p:cNvPr id="27" name="ex"/>
          <p:cNvSpPr txBox="1"/>
          <p:nvPr/>
        </p:nvSpPr>
        <p:spPr>
          <a:xfrm>
            <a:off x="4526280" y="3840480"/>
            <a:ext cx="3291840" cy="1920240"/>
          </a:xfrm>
          <a:prstGeom prst="roundRect">
            <a:avLst>
              <a:gd name="adj" fmla="val 16000"/>
            </a:avLst>
          </a:prstGeom>
          <a:solidFill>
            <a:srgbClr val="FFF6E8"/>
          </a:solidFill>
          <a:ln>
            <a:noFill/>
          </a:ln>
        </p:spPr>
        <p:txBody>
          <a:bodyPr wrap="square" lIns="50000" tIns="40000" rIns="50000" bIns="40000" rtlCol="0" anchor="ctr">
            <a:spAutoFit/>
          </a:bodyPr>
          <a:lstStyle/>
          <a:p>
            <a:pPr algn="ctr"/>
            <a:r>
              <a:rPr lang="hi-IN" altLang="en-US" sz="15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कारखाना  •  निर्माण  •  विनिर्माण</a:t>
            </a:r>
            <a:endParaRPr lang="hi-IN" sz="1500"/>
          </a:p>
        </p:txBody>
      </p:sp>
      <p:sp>
        <p:nvSpPr>
          <p:cNvPr id="28" name="card"/>
          <p:cNvSpPr/>
          <p:nvPr/>
        </p:nvSpPr>
        <p:spPr>
          <a:xfrm>
            <a:off x="8229600" y="1097280"/>
            <a:ext cx="3749039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op"/>
          <p:cNvSpPr txBox="1"/>
          <p:nvPr/>
        </p:nvSpPr>
        <p:spPr>
          <a:xfrm>
            <a:off x="8229600" y="1097280"/>
            <a:ext cx="3749039" cy="1417320"/>
          </a:xfrm>
          <a:prstGeom prst="roundRect">
            <a:avLst>
              <a:gd name="adj" fmla="val 0"/>
            </a:avLst>
          </a:prstGeom>
          <a:solidFill>
            <a:srgbClr val="0D9B8A"/>
          </a:solidFill>
          <a:ln>
            <a:noFill/>
          </a:ln>
        </p:spPr>
        <p:txBody>
          <a:bodyPr wrap="square" lIns="40000" tIns="40000" rIns="40000" bIns="40000" rtlCol="0" anchor="ctr">
            <a:spAutoFit/>
          </a:bodyPr>
          <a:lstStyle/>
          <a:p>
            <a:pPr algn="ctr"/>
            <a:r>
              <a:rPr lang="hi-IN" altLang="en-US" sz="26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तृतीयक</a:t>
            </a:r>
            <a:endParaRPr lang="hi-IN" sz="2600"/>
          </a:p>
        </p:txBody>
      </p:sp>
      <p:sp>
        <p:nvSpPr>
          <p:cNvPr id="30" name="sub"/>
          <p:cNvSpPr txBox="1"/>
          <p:nvPr/>
        </p:nvSpPr>
        <p:spPr>
          <a:xfrm>
            <a:off x="8412480" y="2697480"/>
            <a:ext cx="33832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10000" rIns="20000" bIns="10000" rtlCol="0" anchor="t">
            <a:spAutoFit/>
          </a:bodyPr>
          <a:lstStyle/>
          <a:p>
            <a:pPr algn="ctr"/>
            <a:r>
              <a:rPr lang="hi-IN" altLang="en-US" sz="16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सेवा क्षेत्र — वस्तु नहीं, सेवा</a:t>
            </a:r>
            <a:endParaRPr lang="hi-IN" sz="1600"/>
          </a:p>
        </p:txBody>
      </p:sp>
      <p:sp>
        <p:nvSpPr>
          <p:cNvPr id="31" name="ex"/>
          <p:cNvSpPr txBox="1"/>
          <p:nvPr/>
        </p:nvSpPr>
        <p:spPr>
          <a:xfrm>
            <a:off x="8458200" y="3840480"/>
            <a:ext cx="3291840" cy="1920240"/>
          </a:xfrm>
          <a:prstGeom prst="roundRect">
            <a:avLst>
              <a:gd name="adj" fmla="val 16000"/>
            </a:avLst>
          </a:prstGeom>
          <a:solidFill>
            <a:srgbClr val="D9F6F1"/>
          </a:solidFill>
          <a:ln>
            <a:noFill/>
          </a:ln>
        </p:spPr>
        <p:txBody>
          <a:bodyPr wrap="square" lIns="50000" tIns="40000" rIns="50000" bIns="40000" rtlCol="0" anchor="ctr">
            <a:spAutoFit/>
          </a:bodyPr>
          <a:lstStyle/>
          <a:p>
            <a:pPr algn="ctr"/>
            <a:r>
              <a:rPr lang="hi-IN" altLang="en-US" sz="15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बैंक  •  परिवहन  •  संचार  •  व्यापार  •  शिक्षा</a:t>
            </a:r>
            <a:endParaRPr lang="hi-IN" sz="15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अर्थव्यवस्था के प्रकार — परीक्षा पॉइंट</a:t>
            </a:r>
            <a:endParaRPr lang="hi-IN" sz="1400"/>
          </a:p>
        </p:txBody>
      </p:sp>
      <p:sp>
        <p:nvSpPr>
          <p:cNvPr id="20" name="left"/>
          <p:cNvSpPr/>
          <p:nvPr/>
        </p:nvSpPr>
        <p:spPr>
          <a:xfrm>
            <a:off x="365760" y="1097280"/>
            <a:ext cx="5669280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h"/>
          <p:cNvSpPr txBox="1"/>
          <p:nvPr/>
        </p:nvSpPr>
        <p:spPr>
          <a:xfrm>
            <a:off x="365760" y="1097280"/>
            <a:ext cx="5669280" cy="1005840"/>
          </a:xfrm>
          <a:prstGeom prst="roundRect">
            <a:avLst>
              <a:gd name="adj" fmla="val 0"/>
            </a:avLst>
          </a:prstGeom>
          <a:solidFill>
            <a:srgbClr val="4C2FB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भारत  =  मिश्रित अर्थव्यवस्था</a:t>
            </a:r>
            <a:endParaRPr lang="hi-IN" sz="2000"/>
          </a:p>
        </p:txBody>
      </p:sp>
      <p:sp>
        <p:nvSpPr>
          <p:cNvPr id="22" name="lb"/>
          <p:cNvSpPr txBox="1"/>
          <p:nvPr/>
        </p:nvSpPr>
        <p:spPr>
          <a:xfrm>
            <a:off x="640080" y="2331720"/>
            <a:ext cx="5120640" cy="3383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hi-IN" altLang="en-US" sz="18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सार्वजनिक क्षेत्र + निजी क्षेत्र</a:t>
            </a:r>
            <a:endParaRPr lang="hi-IN" sz="1800"/>
          </a:p>
          <a:p>
            <a:pPr algn="l">
              <a:spcAft>
                <a:spcPts val="600"/>
              </a:spcAft>
            </a:pPr>
            <a:r>
              <a:rPr lang="hi-IN" altLang="en-US" sz="16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दोनों की भूमिका महत्वपूर्ण है।</a:t>
            </a:r>
            <a:endParaRPr lang="hi-IN" sz="1600"/>
          </a:p>
          <a:p>
            <a:pPr algn="l">
              <a:spcAft>
                <a:spcPts val="600"/>
              </a:spcAft>
            </a:pPr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सरकार योजना बनाती है, बाज़ार भी चलता है।</a:t>
            </a:r>
            <a:endParaRPr lang="hi-IN" sz="1600"/>
          </a:p>
          <a:p>
            <a:pPr algn="l"/>
            <a:r>
              <a:rPr lang="hi-IN" altLang="en-US" sz="1600" b="1" dirty="0">
                <a:solidFill>
                  <a:srgbClr val="4C2FB8"/>
                </a:solidFill>
                <a:latin typeface="Nirmala UI"/>
                <a:ea typeface="Nirmala UI"/>
                <a:cs typeface="Nirmala UI"/>
              </a:rPr>
              <a:t>बोर्ड में सबसे पक्का उत्तर: मिश्रित।</a:t>
            </a:r>
            <a:endParaRPr lang="hi-IN" sz="1600"/>
          </a:p>
        </p:txBody>
      </p:sp>
      <p:sp>
        <p:nvSpPr>
          <p:cNvPr id="23" name="right"/>
          <p:cNvSpPr/>
          <p:nvPr/>
        </p:nvSpPr>
        <p:spPr>
          <a:xfrm>
            <a:off x="6263640" y="1097280"/>
            <a:ext cx="5532120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h"/>
          <p:cNvSpPr txBox="1"/>
          <p:nvPr/>
        </p:nvSpPr>
        <p:spPr>
          <a:xfrm>
            <a:off x="6263640" y="1097280"/>
            <a:ext cx="5532120" cy="1005840"/>
          </a:xfrm>
          <a:prstGeom prst="roundRect">
            <a:avLst>
              <a:gd name="adj" fmla="val 0"/>
            </a:avLst>
          </a:prstGeom>
          <a:solidFill>
            <a:srgbClr val="FF7A1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अमेरिका • जापान  =  पूँजीवादी</a:t>
            </a:r>
            <a:endParaRPr lang="hi-IN" sz="1800"/>
          </a:p>
        </p:txBody>
      </p:sp>
      <p:sp>
        <p:nvSpPr>
          <p:cNvPr id="25" name="rb"/>
          <p:cNvSpPr txBox="1"/>
          <p:nvPr/>
        </p:nvSpPr>
        <p:spPr>
          <a:xfrm>
            <a:off x="6537960" y="2331720"/>
            <a:ext cx="4983480" cy="3383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hi-IN" altLang="en-US" sz="18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निजी क्षेत्र की प्रमुख भूमिका</a:t>
            </a:r>
            <a:endParaRPr lang="hi-IN" sz="1800"/>
          </a:p>
          <a:p>
            <a:pPr algn="l">
              <a:spcAft>
                <a:spcPts val="600"/>
              </a:spcAft>
            </a:pPr>
            <a:r>
              <a:rPr lang="hi-IN" altLang="en-US" sz="16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उत्पादन के साधन बाज़ार के हाथ में।</a:t>
            </a:r>
            <a:endParaRPr lang="hi-IN" sz="1600"/>
          </a:p>
          <a:p>
            <a:pPr algn="l">
              <a:spcAft>
                <a:spcPts val="600"/>
              </a:spcAft>
            </a:pPr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इसे बाजार-आधारित अर्थव्यवस्था भी कहते हैं।</a:t>
            </a:r>
            <a:endParaRPr lang="hi-IN" sz="1600"/>
          </a:p>
          <a:p>
            <a:pPr algn="l"/>
            <a:r>
              <a:rPr lang="hi-IN" altLang="en-US" sz="1600" b="1" dirty="0">
                <a:solidFill>
                  <a:srgbClr val="E11D74"/>
                </a:solidFill>
                <a:latin typeface="Nirmala UI"/>
                <a:ea typeface="Nirmala UI"/>
                <a:cs typeface="Nirmala UI"/>
              </a:rPr>
              <a:t>भारत को पूँजीवादी मत लिखना।</a:t>
            </a:r>
            <a:endParaRPr lang="hi-IN" sz="16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तिथियाँ जो हर बार आती हैं</a:t>
            </a:r>
            <a:endParaRPr lang="hi-IN" sz="1400"/>
          </a:p>
        </p:txBody>
      </p:sp>
      <p:sp>
        <p:nvSpPr>
          <p:cNvPr id="20" name="r"/>
          <p:cNvSpPr/>
          <p:nvPr/>
        </p:nvSpPr>
        <p:spPr>
          <a:xfrm>
            <a:off x="365760" y="1051560"/>
            <a:ext cx="114300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"/>
          <p:cNvSpPr txBox="1"/>
          <p:nvPr/>
        </p:nvSpPr>
        <p:spPr>
          <a:xfrm>
            <a:off x="502920" y="1179576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30000" tIns="12000" rIns="30000" bIns="12000" rtlCol="0" anchor="ctr">
            <a:spAutoFit/>
          </a:bodyPr>
          <a:lstStyle/>
          <a:p>
            <a:pPr algn="ctr"/>
            <a:r>
              <a:rPr lang="hi-IN" altLang="en-US" sz="15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15 मार्च 1950</a:t>
            </a:r>
            <a:endParaRPr lang="hi-IN" sz="1500"/>
          </a:p>
        </p:txBody>
      </p:sp>
      <p:sp>
        <p:nvSpPr>
          <p:cNvPr id="22" name="b"/>
          <p:cNvSpPr txBox="1"/>
          <p:nvPr/>
        </p:nvSpPr>
        <p:spPr>
          <a:xfrm>
            <a:off x="3886200" y="1124712"/>
            <a:ext cx="420624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योजना आयोग का गठन</a:t>
            </a:r>
            <a:endParaRPr lang="hi-IN" sz="1700"/>
          </a:p>
        </p:txBody>
      </p:sp>
      <p:sp>
        <p:nvSpPr>
          <p:cNvPr id="23" name="c"/>
          <p:cNvSpPr txBox="1"/>
          <p:nvPr/>
        </p:nvSpPr>
        <p:spPr>
          <a:xfrm>
            <a:off x="8138160" y="1124712"/>
            <a:ext cx="347472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पदेन अध्यक्ष — प्रधानमंत्री</a:t>
            </a:r>
            <a:endParaRPr lang="hi-IN" sz="1400"/>
          </a:p>
        </p:txBody>
      </p:sp>
      <p:sp>
        <p:nvSpPr>
          <p:cNvPr id="24" name="r"/>
          <p:cNvSpPr/>
          <p:nvPr/>
        </p:nvSpPr>
        <p:spPr>
          <a:xfrm>
            <a:off x="365760" y="2057400"/>
            <a:ext cx="114300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"/>
          <p:cNvSpPr txBox="1"/>
          <p:nvPr/>
        </p:nvSpPr>
        <p:spPr>
          <a:xfrm>
            <a:off x="502920" y="2185416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30000" tIns="12000" rIns="30000" bIns="12000" rtlCol="0" anchor="ctr">
            <a:spAutoFit/>
          </a:bodyPr>
          <a:lstStyle/>
          <a:p>
            <a:pPr algn="ctr"/>
            <a:r>
              <a:rPr lang="hi-IN" altLang="en-US" sz="15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 अगस्त 1952</a:t>
            </a:r>
            <a:endParaRPr lang="hi-IN" sz="1500"/>
          </a:p>
        </p:txBody>
      </p:sp>
      <p:sp>
        <p:nvSpPr>
          <p:cNvPr id="26" name="b"/>
          <p:cNvSpPr txBox="1"/>
          <p:nvPr/>
        </p:nvSpPr>
        <p:spPr>
          <a:xfrm>
            <a:off x="3886200" y="2130552"/>
            <a:ext cx="420624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राष्ट्रीय विकास परिषद् (NDC)</a:t>
            </a:r>
            <a:endParaRPr lang="hi-IN" sz="1700"/>
          </a:p>
        </p:txBody>
      </p:sp>
      <p:sp>
        <p:nvSpPr>
          <p:cNvPr id="27" name="c"/>
          <p:cNvSpPr txBox="1"/>
          <p:nvPr/>
        </p:nvSpPr>
        <p:spPr>
          <a:xfrm>
            <a:off x="8138160" y="2130552"/>
            <a:ext cx="347472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केंद्र–राज्य समन्वय</a:t>
            </a:r>
            <a:endParaRPr lang="hi-IN" sz="1400"/>
          </a:p>
        </p:txBody>
      </p:sp>
      <p:sp>
        <p:nvSpPr>
          <p:cNvPr id="28" name="r"/>
          <p:cNvSpPr/>
          <p:nvPr/>
        </p:nvSpPr>
        <p:spPr>
          <a:xfrm>
            <a:off x="365760" y="3063240"/>
            <a:ext cx="114300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"/>
          <p:cNvSpPr txBox="1"/>
          <p:nvPr/>
        </p:nvSpPr>
        <p:spPr>
          <a:xfrm>
            <a:off x="502920" y="3191256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0D9B8A"/>
          </a:solidFill>
          <a:ln>
            <a:noFill/>
          </a:ln>
        </p:spPr>
        <p:txBody>
          <a:bodyPr wrap="square" lIns="30000" tIns="12000" rIns="30000" bIns="12000" rtlCol="0" anchor="ctr">
            <a:spAutoFit/>
          </a:bodyPr>
          <a:lstStyle/>
          <a:p>
            <a:pPr algn="ctr"/>
            <a:r>
              <a:rPr lang="hi-IN" altLang="en-US" sz="15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ATM</a:t>
            </a:r>
            <a:endParaRPr lang="hi-IN" sz="1500"/>
          </a:p>
        </p:txBody>
      </p:sp>
      <p:sp>
        <p:nvSpPr>
          <p:cNvPr id="30" name="b"/>
          <p:cNvSpPr txBox="1"/>
          <p:nvPr/>
        </p:nvSpPr>
        <p:spPr>
          <a:xfrm>
            <a:off x="3886200" y="3136392"/>
            <a:ext cx="420624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Automatic Teller Machine</a:t>
            </a:r>
            <a:endParaRPr lang="hi-IN" sz="1700"/>
          </a:p>
        </p:txBody>
      </p:sp>
      <p:sp>
        <p:nvSpPr>
          <p:cNvPr id="31" name="c"/>
          <p:cNvSpPr txBox="1"/>
          <p:nvPr/>
        </p:nvSpPr>
        <p:spPr>
          <a:xfrm>
            <a:off x="8138160" y="3136392"/>
            <a:ext cx="347472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Any Time Money गलत है</a:t>
            </a:r>
            <a:endParaRPr lang="hi-IN" sz="1400"/>
          </a:p>
        </p:txBody>
      </p:sp>
      <p:sp>
        <p:nvSpPr>
          <p:cNvPr id="32" name="r"/>
          <p:cNvSpPr/>
          <p:nvPr/>
        </p:nvSpPr>
        <p:spPr>
          <a:xfrm>
            <a:off x="365760" y="4069080"/>
            <a:ext cx="114300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"/>
          <p:cNvSpPr txBox="1"/>
          <p:nvPr/>
        </p:nvSpPr>
        <p:spPr>
          <a:xfrm>
            <a:off x="502920" y="4197096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E11D74"/>
          </a:solidFill>
          <a:ln>
            <a:noFill/>
          </a:ln>
        </p:spPr>
        <p:txBody>
          <a:bodyPr wrap="square" lIns="30000" tIns="12000" rIns="30000" bIns="12000" rtlCol="0" anchor="ctr">
            <a:spAutoFit/>
          </a:bodyPr>
          <a:lstStyle/>
          <a:p>
            <a:pPr algn="ctr"/>
            <a:r>
              <a:rPr lang="hi-IN" altLang="en-US" sz="15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NREGA / मनरेगा</a:t>
            </a:r>
            <a:endParaRPr lang="hi-IN" sz="1500"/>
          </a:p>
        </p:txBody>
      </p:sp>
      <p:sp>
        <p:nvSpPr>
          <p:cNvPr id="34" name="b"/>
          <p:cNvSpPr txBox="1"/>
          <p:nvPr/>
        </p:nvSpPr>
        <p:spPr>
          <a:xfrm>
            <a:off x="3886200" y="4142232"/>
            <a:ext cx="420624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100 दिनों का रोज़गार</a:t>
            </a:r>
            <a:endParaRPr lang="hi-IN" sz="1700"/>
          </a:p>
        </p:txBody>
      </p:sp>
      <p:sp>
        <p:nvSpPr>
          <p:cNvPr id="35" name="c"/>
          <p:cNvSpPr txBox="1"/>
          <p:nvPr/>
        </p:nvSpPr>
        <p:spPr>
          <a:xfrm>
            <a:off x="8138160" y="4142232"/>
            <a:ext cx="347472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ग्रामीण अकुशल मजदूरी — कानूनी गारंटी</a:t>
            </a:r>
            <a:endParaRPr lang="hi-IN" sz="1400"/>
          </a:p>
        </p:txBody>
      </p:sp>
      <p:sp>
        <p:nvSpPr>
          <p:cNvPr id="36" name="r"/>
          <p:cNvSpPr/>
          <p:nvPr/>
        </p:nvSpPr>
        <p:spPr>
          <a:xfrm>
            <a:off x="365760" y="5074920"/>
            <a:ext cx="114300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"/>
          <p:cNvSpPr txBox="1"/>
          <p:nvPr/>
        </p:nvSpPr>
        <p:spPr>
          <a:xfrm>
            <a:off x="502920" y="5202936"/>
            <a:ext cx="3200400" cy="658368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30000" tIns="12000" rIns="30000" bIns="12000" rtlCol="0" anchor="ctr">
            <a:spAutoFit/>
          </a:bodyPr>
          <a:lstStyle/>
          <a:p>
            <a:pPr algn="ctr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विकास का सूचक</a:t>
            </a:r>
            <a:endParaRPr lang="hi-IN" sz="1500"/>
          </a:p>
        </p:txBody>
      </p:sp>
      <p:sp>
        <p:nvSpPr>
          <p:cNvPr id="38" name="b"/>
          <p:cNvSpPr txBox="1"/>
          <p:nvPr/>
        </p:nvSpPr>
        <p:spPr>
          <a:xfrm>
            <a:off x="3886200" y="5148072"/>
            <a:ext cx="420624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प्रति व्यक्ति आय</a:t>
            </a:r>
            <a:endParaRPr lang="hi-IN" sz="1700"/>
          </a:p>
        </p:txBody>
      </p:sp>
      <p:sp>
        <p:nvSpPr>
          <p:cNvPr id="39" name="c"/>
          <p:cNvSpPr txBox="1"/>
          <p:nvPr/>
        </p:nvSpPr>
        <p:spPr>
          <a:xfrm>
            <a:off x="8138160" y="5148072"/>
            <a:ext cx="3474720" cy="7680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साक्षरता या कुल आय से अधिक उचित</a:t>
            </a:r>
            <a:endParaRPr lang="hi-IN" sz="14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दो और पक्के तथ्य</a:t>
            </a:r>
            <a:endParaRPr lang="hi-IN" sz="1400"/>
          </a:p>
        </p:txBody>
      </p:sp>
      <p:sp>
        <p:nvSpPr>
          <p:cNvPr id="20" name="c1"/>
          <p:cNvSpPr/>
          <p:nvPr/>
        </p:nvSpPr>
        <p:spPr>
          <a:xfrm>
            <a:off x="365760" y="1097280"/>
            <a:ext cx="5669280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h1"/>
          <p:cNvSpPr txBox="1"/>
          <p:nvPr/>
        </p:nvSpPr>
        <p:spPr>
          <a:xfrm>
            <a:off x="365760" y="1097280"/>
            <a:ext cx="5669280" cy="1051560"/>
          </a:xfrm>
          <a:prstGeom prst="roundRect">
            <a:avLst>
              <a:gd name="adj" fmla="val 0"/>
            </a:avLst>
          </a:prstGeom>
          <a:solidFill>
            <a:srgbClr val="FF7A1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अर्थव्यवस्था की परिभाषा</a:t>
            </a:r>
            <a:endParaRPr lang="hi-IN" sz="2000"/>
          </a:p>
        </p:txBody>
      </p:sp>
      <p:sp>
        <p:nvSpPr>
          <p:cNvPr id="22" name="b1"/>
          <p:cNvSpPr txBox="1"/>
          <p:nvPr/>
        </p:nvSpPr>
        <p:spPr>
          <a:xfrm>
            <a:off x="640080" y="2377440"/>
            <a:ext cx="5120640" cy="3383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hi-IN" altLang="en-US" sz="20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“आजीविका अर्जन की एक प्रणाली”</a:t>
            </a:r>
            <a:endParaRPr lang="hi-IN" sz="2000"/>
          </a:p>
          <a:p>
            <a:pPr algn="l">
              <a:spcAft>
                <a:spcPts val="500"/>
              </a:spcAft>
            </a:pPr>
            <a:r>
              <a:rPr lang="hi-IN" altLang="en-US" sz="1700" b="1" dirty="0">
                <a:solidFill>
                  <a:srgbClr val="FF7A18"/>
                </a:solidFill>
                <a:latin typeface="Nirmala UI"/>
                <a:ea typeface="Nirmala UI"/>
                <a:cs typeface="Nirmala UI"/>
              </a:rPr>
              <a:t>यह परिभाषा ब्राउन (Brown) की है।</a:t>
            </a:r>
            <a:endParaRPr lang="hi-IN" sz="1700"/>
          </a:p>
          <a:p>
            <a:pPr algn="l">
              <a:spcAft>
                <a:spcPts val="400"/>
              </a:spcAft>
            </a:pPr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अंग्रेजों से पहले भारत = सोने की चिड़िया</a:t>
            </a:r>
            <a:endParaRPr lang="hi-IN" sz="1600"/>
          </a:p>
          <a:p>
            <a:pPr algn="l"/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ब्रिटिश शासन ≈ 200 वर्ष (1757 → 1947)</a:t>
            </a:r>
            <a:endParaRPr lang="hi-IN" sz="1600"/>
          </a:p>
        </p:txBody>
      </p:sp>
      <p:sp>
        <p:nvSpPr>
          <p:cNvPr id="23" name="c2"/>
          <p:cNvSpPr/>
          <p:nvPr/>
        </p:nvSpPr>
        <p:spPr>
          <a:xfrm>
            <a:off x="6263640" y="1097280"/>
            <a:ext cx="5532120" cy="5029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h2"/>
          <p:cNvSpPr txBox="1"/>
          <p:nvPr/>
        </p:nvSpPr>
        <p:spPr>
          <a:xfrm>
            <a:off x="6263640" y="1097280"/>
            <a:ext cx="5532120" cy="1051560"/>
          </a:xfrm>
          <a:prstGeom prst="roundRect">
            <a:avLst>
              <a:gd name="adj" fmla="val 0"/>
            </a:avLst>
          </a:prstGeom>
          <a:solidFill>
            <a:srgbClr val="0D9B8A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बिहार की अर्थव्यवस्था</a:t>
            </a:r>
            <a:endParaRPr lang="hi-IN" sz="2000"/>
          </a:p>
        </p:txBody>
      </p:sp>
      <p:sp>
        <p:nvSpPr>
          <p:cNvPr id="25" name="b2"/>
          <p:cNvSpPr txBox="1"/>
          <p:nvPr/>
        </p:nvSpPr>
        <p:spPr>
          <a:xfrm>
            <a:off x="6537960" y="2377440"/>
            <a:ext cx="4983480" cy="3383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hi-IN" altLang="en-US" sz="2200" b="1" dirty="0">
                <a:solidFill>
                  <a:srgbClr val="0D9B8A"/>
                </a:solidFill>
                <a:latin typeface="Nirmala UI"/>
                <a:ea typeface="Nirmala UI"/>
                <a:cs typeface="Nirmala UI"/>
              </a:rPr>
              <a:t>मुख्य आधार — कृषि</a:t>
            </a:r>
            <a:endParaRPr lang="hi-IN" sz="2200"/>
          </a:p>
          <a:p>
            <a:pPr algn="l">
              <a:spcAft>
                <a:spcPts val="500"/>
              </a:spcAft>
            </a:pPr>
            <a:r>
              <a:rPr lang="hi-IN" altLang="en-US" sz="16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बड़ी आबादी कृषि और उससे जुड़ी गतिविधियों पर निर्भर है।</a:t>
            </a:r>
            <a:endParaRPr lang="hi-IN" sz="1600"/>
          </a:p>
          <a:p>
            <a:pPr algn="l">
              <a:spcAft>
                <a:spcPts val="400"/>
              </a:spcAft>
            </a:pPr>
            <a:r>
              <a:rPr lang="hi-IN" altLang="en-US" sz="1600" b="1" dirty="0">
                <a:solidFill>
                  <a:srgbClr val="E11D74"/>
                </a:solidFill>
                <a:latin typeface="Nirmala UI"/>
                <a:ea typeface="Nirmala UI"/>
                <a:cs typeface="Nirmala UI"/>
              </a:rPr>
              <a:t>बड़े उद्योग मुख्य आधार नहीं हैं।</a:t>
            </a:r>
            <a:endParaRPr lang="hi-IN" sz="1600"/>
          </a:p>
          <a:p>
            <a:pPr algn="l"/>
            <a:r>
              <a:rPr lang="hi-IN" altLang="en-US" sz="16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NREGA = ग्रामीण परिवार को 100 दिन।</a:t>
            </a:r>
            <a:endParaRPr lang="hi-IN" sz="16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lob"/>
          <p:cNvSpPr/>
          <p:nvPr/>
        </p:nvSpPr>
        <p:spPr>
          <a:xfrm>
            <a:off x="-1097280" y="-1280160"/>
            <a:ext cx="4114800" cy="4114800"/>
          </a:xfrm>
          <a:prstGeom prst="ellipse">
            <a:avLst/>
          </a:prstGeom>
          <a:solidFill>
            <a:srgbClr val="FF7A1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lob"/>
          <p:cNvSpPr/>
          <p:nvPr/>
        </p:nvSpPr>
        <p:spPr>
          <a:xfrm>
            <a:off x="9601200" y="4206240"/>
            <a:ext cx="3840480" cy="3840480"/>
          </a:xfrm>
          <a:prstGeom prst="ellipse">
            <a:avLst/>
          </a:prstGeom>
          <a:solidFill>
            <a:srgbClr val="FFC53D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adge"/>
          <p:cNvSpPr txBox="1"/>
          <p:nvPr/>
        </p:nvSpPr>
        <p:spPr>
          <a:xfrm>
            <a:off x="3931920" y="155448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16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MCQ ROUND  •  15 प्रश्न</a:t>
            </a:r>
            <a:endParaRPr lang="hi-IN" sz="1600"/>
          </a:p>
        </p:txBody>
      </p:sp>
      <p:sp>
        <p:nvSpPr>
          <p:cNvPr id="6" name="h"/>
          <p:cNvSpPr txBox="1"/>
          <p:nvPr/>
        </p:nvSpPr>
        <p:spPr>
          <a:xfrm>
            <a:off x="731520" y="2240280"/>
            <a:ext cx="10698480" cy="128016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ctr"/>
            <a:r>
              <a:rPr lang="hi-IN" altLang="en-US" sz="36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पहले सोचिए, फिर उत्तर देखिए</a:t>
            </a:r>
            <a:endParaRPr lang="hi-IN" sz="3600"/>
          </a:p>
        </p:txBody>
      </p:sp>
      <p:sp>
        <p:nvSpPr>
          <p:cNvPr id="7" name="p"/>
          <p:cNvSpPr txBox="1"/>
          <p:nvPr/>
        </p:nvSpPr>
        <p:spPr>
          <a:xfrm>
            <a:off x="1371600" y="3703320"/>
            <a:ext cx="9418320" cy="118872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ctr"/>
            <a:r>
              <a:rPr lang="hi-IN" altLang="en-US" sz="1800" dirty="0">
                <a:solidFill>
                  <a:srgbClr val="FFD9A8"/>
                </a:solidFill>
                <a:latin typeface="Nirmala UI"/>
                <a:ea typeface="Nirmala UI"/>
                <a:cs typeface="Nirmala UI"/>
              </a:rPr>
              <a:t>हर प्रश्न के बाद अगली स्लाइड पर सही उत्तर और आसान व्याख्या है।</a:t>
            </a:r>
            <a:endParaRPr lang="hi-IN" sz="1800"/>
          </a:p>
          <a:p>
            <a:pPr algn="ctr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  •  Pause करके स्वयं उत्तर दें</a:t>
            </a:r>
            <a:endParaRPr lang="hi-IN" sz="1600"/>
          </a:p>
        </p:txBody>
      </p:sp>
      <p:sp>
        <p:nvSpPr>
          <p:cNvPr id="4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4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FFD9A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01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अंग्रेजों के शासन से पहले भारत को क्या कहा जाता था?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सोने की चिड़िया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चाँदी का देश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मसालों का द्वीप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लोहे का देश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01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सोने की चिड़िया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प्राचीन काल में कृषि, व्यापार, हस्तशिल्प और प्राकृतिक संसाधनों से समृद्ध था। इसी वजह से भारत को “सोने की चिड़िया” कहा जाता था।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02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लगभग कितने वर्षों तक ब्रिटिश शासन का गुलाम (उपनिवेश) रहा?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लगभग 100 वर्ष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लगभग 200 वर्ष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लगभग 50 वर्ष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लगभग 300 वर्ष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02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(ख)   लगभग 200 वर्ष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पर ब्रिटिश प्रभुत्व लगभग दो शताब्दियों तक रहा। 1757 के प्लासी युद्ध से नियंत्रण मजबूत हुआ और 1947 में स्वतंत्रता मिली।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03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“अर्थव्यवस्था आजीविका अर्जन की एक प्रणाली है”—यह प्रसिद्ध परिभाषा किसने दी थी?</a:t>
            </a:r>
            <a:endParaRPr lang="hi-IN" sz="20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ब्राउन (Brown)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आर्थर लेविस (Arthur Lewis)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एडम स्मिथ (Adam Smith)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जॉन मेनार्ड केन्स (J. M. Keynes)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03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ब्राउन (Brown)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ब्राउन के अनुसार अर्थव्यवस्था आजीविका अर्जित करने की प्रणाली है। इसमें मनुष्य अपनी आवश्यकताओं की पूर्ति के लिए आर्थिक गतिविधियाँ करता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04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कृषि, पशुपालन और मछली पालन को अर्थव्यवस्था के किस क्षेत्र में रखा जाता है?</a:t>
            </a:r>
            <a:endParaRPr lang="hi-IN" sz="20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प्राथमिक क्षेत्र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द्वितीयक क्षेत्र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तृतीयक क्षेत्र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चतुर्थक क्षेत्र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04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प्राथमिक क्षेत्र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प्राथमिक क्षेत्र में प्राकृतिक संसाधनों से सीधे उत्पादन होता है—कृषि, पशुपालन, मछली पालन, वानिकी और खनन।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05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द्वितीयक क्षेत्र (Secondary Sector) को और किस नाम से जाना जाता है?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औद्योगिक क्षेत्र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सेवा क्षेत्र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कृषि क्षेत्र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बैंकिंग क्षेत्र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05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औद्योगिक क्षेत्र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द्वितीयक क्षेत्र कच्चे माल को संसाधित कर तैयार वस्तुएँ बनाता है। कारखाने, निर्माण और विनिर्माण इसी में आते हैं, इसलिए इसे औद्योगिक क्षेत्र कहते हैं।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06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बैंक, परिवहन, संचार और व्यापार को किस क्षेत्र के अंतर्गत शामिल किया जाता है?</a:t>
            </a:r>
            <a:endParaRPr lang="hi-IN" sz="20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प्राथमिक क्षेत्र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तृतीयक क्षेत्र (सेवा क्षेत्र)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द्वितीयक क्षेत्र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औद्योगिक क्षेत्र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06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(ख)   तृतीयक क्षेत्र (सेवा क्षेत्र)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तृतीयक क्षेत्र वस्तु नहीं, सेवाएँ देता है—बैंकिंग, परिवहन, संचार, व्यापार, शिक्षा और स्वास्थ्य।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07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में किस प्रकार की अर्थव्यवस्था पाई जाती है?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पूँजीवादी अर्थव्यवस्था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मिश्रित अर्थव्यवस्था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समाजवादी अर्थव्यवस्था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पारंपरिक अर्थव्यवस्था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07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(ख)   मिश्रित अर्थव्यवस्था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में सार्वजनिक और निजी दोनों क्षेत्रों की महत्वपूर्ण भूमिका है। इसलिए भारतीय अर्थव्यवस्था मिश्रित अर्थव्यवस्था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08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अमेरिका और जापान जैसे देशों में किस प्रकार की अर्थव्यवस्था है?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पूँजीवादी अर्थव्यवस्था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समाजवादी अर्थव्यवस्था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मिश्रित अर्थव्यवस्था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साम्यवादी अर्थव्यवस्था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08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पूँजीवादी अर्थव्यवस्था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अमेरिका और जापान में उत्पादन के साधनों पर निजी क्षेत्र की प्रमुख भूमिका है। इन्हें पूँजीवादी या बाजार-आधारित अर्थव्यवस्था माना जाता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09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में योजना आयोग (Planning Commission) का गठन कब किया गया था?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15 मार्च 1950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15 अगस्त 1947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26 जनवरी 1950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 अप्रैल 1951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09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15 मार्च 1950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योजना आयोग का गठन 15 मार्च 1950 को हुआ। उद्देश्य था देश के आर्थिक विकास के लिए पंचवर्षीय योजनाएँ तैयार करना।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10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योजना आयोग के पदेन अध्यक्ष कौन होते हैं?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देश के प्रधानमंत्री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देश के राष्ट्रपति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वित्त मंत्री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उपराष्ट्रपति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10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देश के प्रधानमंत्री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योजना आयोग के पदेन अध्यक्ष भारत के प्रधानमंत्री होते थे। उनकी अध्यक्षता में विकास योजनाओं के महत्वपूर्ण निर्णय लिए जाते थे।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11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भारत में राष्ट्रीय विकास परिषद् (NDC) का गठन कब किया गया था?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6 अगस्त 1952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26 जनवरी 1950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15 मार्च 1950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26 नवंबर 1949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11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6 अगस्त 1952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राष्ट्रीय विकास परिषद् का गठन 6 अगस्त 1952 को हुआ। उद्देश्य था केंद्र और राज्यों के बीच विकास योजनाओं का समन्वय।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12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ATM का पूर्ण रूप क्या होता है?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Automatic Teller Machine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Any Time Money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Account Transfer Machine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All Time Money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12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Automatic Teller Machine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बिहार बोर्ड की पाठ्यपुस्तक के अनुसार ATM = Automatic Teller Machine। इससे बिना काउंटर जाए नकद निकासी जैसी सेवाएँ मिलती हैं।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13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किसी देश के आर्थिक विकास को मापने के लिए सबसे उचित सूचकांक किसे माना जाता है?</a:t>
            </a:r>
            <a:endParaRPr lang="hi-IN" sz="20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प्रति व्यक्ति आय (Per Capita Income)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कुल साक्षरता दर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कुल जनसंख्या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कुल राष्ट्रीय आय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13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प्रति व्यक्ति आय (Per Capita Income)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प्रति व्यक्ति आय से लोगों की औसत आय का अनुमान लगता है। देशों और राज्यों की आर्थिक तुलना में इसका सबसे अधिक उपयोग होता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14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2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बिहार की अर्थव्यवस्था का मुख्य आधार क्या है?</a:t>
            </a:r>
            <a:endParaRPr lang="hi-IN" sz="22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बड़े उद्योग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कृषि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सूचना प्रौद्योगिकी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खनन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14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(ख)   कृषि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बिहार की बड़ी आबादी की आजीविका कृषि और उससे जुड़ी गतिविधियों पर निर्भर है। इसलिए कृषि राज्य की अर्थव्यवस्था का मुख्य आधार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MCQ  •  प्रश्न 15 / 15</a:t>
            </a:r>
            <a:endParaRPr lang="hi-IN" sz="1400"/>
          </a:p>
        </p:txBody>
      </p:sp>
      <p:sp>
        <p:nvSpPr>
          <p:cNvPr id="10" name="qcard"/>
          <p:cNvSpPr txBox="1"/>
          <p:nvPr/>
        </p:nvSpPr>
        <p:spPr>
          <a:xfrm>
            <a:off x="365760" y="1024128"/>
            <a:ext cx="11430000" cy="1691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 wrap="square" lIns="120000" tIns="60000" rIns="120000" bIns="60000" rtlCol="0" anchor="ctr">
            <a:spAutoFit/>
          </a:bodyPr>
          <a:lstStyle/>
          <a:p>
            <a:pPr algn="l"/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NREGA के तहत ग्रामीण मजदूरों को साल में कम-से-कम कितने दिनों के रोज़गार की गारंटी दी जाती है?</a:t>
            </a:r>
            <a:endParaRPr lang="hi-IN" sz="2000"/>
          </a:p>
        </p:txBody>
      </p:sp>
      <p:sp>
        <p:nvSpPr>
          <p:cNvPr id="11" name="pause"/>
          <p:cNvSpPr txBox="1"/>
          <p:nvPr/>
        </p:nvSpPr>
        <p:spPr>
          <a:xfrm>
            <a:off x="365760" y="2816352"/>
            <a:ext cx="11430000" cy="384048"/>
          </a:xfrm>
          <a:prstGeom prst="roundRect">
            <a:avLst>
              <a:gd name="adj" fmla="val 50000"/>
            </a:avLst>
          </a:prstGeom>
          <a:solidFill>
            <a:srgbClr val="FFE8CC"/>
          </a:solidFill>
          <a:ln>
            <a:noFill/>
          </a:ln>
        </p:spPr>
        <p:txBody>
          <a:bodyPr wrap="square" lIns="40000" tIns="8000" rIns="40000" bIns="8000" rtlCol="0" anchor="ctr">
            <a:spAutoFit/>
          </a:bodyPr>
          <a:lstStyle/>
          <a:p>
            <a:pPr algn="ctr"/>
            <a:r>
              <a:rPr lang="hi-IN" altLang="en-US" sz="13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⏸  एक पल रुकिए — अपना उत्तर चुनिए, फिर अगली स्लाइड देखिए</a:t>
            </a:r>
            <a:endParaRPr lang="hi-IN" sz="1300"/>
          </a:p>
        </p:txBody>
      </p:sp>
      <p:sp>
        <p:nvSpPr>
          <p:cNvPr id="20" name="opt"/>
          <p:cNvSpPr/>
          <p:nvPr/>
        </p:nvSpPr>
        <p:spPr>
          <a:xfrm>
            <a:off x="36576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et"/>
          <p:cNvSpPr txBox="1"/>
          <p:nvPr/>
        </p:nvSpPr>
        <p:spPr>
          <a:xfrm>
            <a:off x="530352" y="3657600"/>
            <a:ext cx="658368" cy="658368"/>
          </a:xfrm>
          <a:prstGeom prst="ellipse">
            <a:avLst/>
          </a:prstGeom>
          <a:solidFill>
            <a:srgbClr val="FF7A1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</a:t>
            </a:r>
            <a:endParaRPr lang="hi-IN" sz="1800"/>
          </a:p>
        </p:txBody>
      </p:sp>
      <p:sp>
        <p:nvSpPr>
          <p:cNvPr id="30" name="ot"/>
          <p:cNvSpPr txBox="1"/>
          <p:nvPr/>
        </p:nvSpPr>
        <p:spPr>
          <a:xfrm>
            <a:off x="132588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100 दिन</a:t>
            </a:r>
            <a:endParaRPr lang="hi-IN" sz="1700"/>
          </a:p>
        </p:txBody>
      </p:sp>
      <p:sp>
        <p:nvSpPr>
          <p:cNvPr id="22" name="opt"/>
          <p:cNvSpPr/>
          <p:nvPr/>
        </p:nvSpPr>
        <p:spPr>
          <a:xfrm>
            <a:off x="6172200" y="3310128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et"/>
          <p:cNvSpPr txBox="1"/>
          <p:nvPr/>
        </p:nvSpPr>
        <p:spPr>
          <a:xfrm>
            <a:off x="6336792" y="3657600"/>
            <a:ext cx="658368" cy="658368"/>
          </a:xfrm>
          <a:prstGeom prst="ellipse">
            <a:avLst/>
          </a:prstGeom>
          <a:solidFill>
            <a:srgbClr val="4C2FB8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ख</a:t>
            </a:r>
            <a:endParaRPr lang="hi-IN" sz="1800"/>
          </a:p>
        </p:txBody>
      </p:sp>
      <p:sp>
        <p:nvSpPr>
          <p:cNvPr id="31" name="ot"/>
          <p:cNvSpPr txBox="1"/>
          <p:nvPr/>
        </p:nvSpPr>
        <p:spPr>
          <a:xfrm>
            <a:off x="7132320" y="3474720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150 दिन</a:t>
            </a:r>
            <a:endParaRPr lang="hi-IN" sz="1700"/>
          </a:p>
        </p:txBody>
      </p:sp>
      <p:sp>
        <p:nvSpPr>
          <p:cNvPr id="24" name="opt"/>
          <p:cNvSpPr/>
          <p:nvPr/>
        </p:nvSpPr>
        <p:spPr>
          <a:xfrm>
            <a:off x="36576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et"/>
          <p:cNvSpPr txBox="1"/>
          <p:nvPr/>
        </p:nvSpPr>
        <p:spPr>
          <a:xfrm>
            <a:off x="530352" y="5175504"/>
            <a:ext cx="658368" cy="658368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ग</a:t>
            </a:r>
            <a:endParaRPr lang="hi-IN" sz="1800"/>
          </a:p>
        </p:txBody>
      </p:sp>
      <p:sp>
        <p:nvSpPr>
          <p:cNvPr id="32" name="ot"/>
          <p:cNvSpPr txBox="1"/>
          <p:nvPr/>
        </p:nvSpPr>
        <p:spPr>
          <a:xfrm>
            <a:off x="132588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50 दिन</a:t>
            </a:r>
            <a:endParaRPr lang="hi-IN" sz="1700"/>
          </a:p>
        </p:txBody>
      </p:sp>
      <p:sp>
        <p:nvSpPr>
          <p:cNvPr id="26" name="opt"/>
          <p:cNvSpPr/>
          <p:nvPr/>
        </p:nvSpPr>
        <p:spPr>
          <a:xfrm>
            <a:off x="6172200" y="4828032"/>
            <a:ext cx="562356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et"/>
          <p:cNvSpPr txBox="1"/>
          <p:nvPr/>
        </p:nvSpPr>
        <p:spPr>
          <a:xfrm>
            <a:off x="6336792" y="5175504"/>
            <a:ext cx="658368" cy="658368"/>
          </a:xfrm>
          <a:prstGeom prst="ellipse">
            <a:avLst/>
          </a:prstGeom>
          <a:solidFill>
            <a:srgbClr val="E11D74"/>
          </a:solidFill>
          <a:ln>
            <a:noFill/>
          </a:ln>
        </p:spPr>
        <p:txBody>
          <a:bodyPr wrap="square" lIns="10000" tIns="8000" rIns="10000" bIns="8000" rtlCol="0" anchor="ctr">
            <a:spAutoFit/>
          </a:bodyPr>
          <a:lstStyle/>
          <a:p>
            <a:pPr algn="ctr"/>
            <a:r>
              <a:rPr lang="hi-IN" altLang="en-US" sz="18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घ</a:t>
            </a:r>
            <a:endParaRPr lang="hi-IN" sz="1800"/>
          </a:p>
        </p:txBody>
      </p:sp>
      <p:sp>
        <p:nvSpPr>
          <p:cNvPr id="33" name="ot"/>
          <p:cNvSpPr txBox="1"/>
          <p:nvPr/>
        </p:nvSpPr>
        <p:spPr>
          <a:xfrm>
            <a:off x="7132320" y="4992624"/>
            <a:ext cx="4480560" cy="102412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200 दिन</a:t>
            </a:r>
            <a:endParaRPr lang="hi-IN" sz="17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F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उत्तर  •  प्रश्न 15 / 15</a:t>
            </a:r>
            <a:endParaRPr lang="hi-IN" sz="1400"/>
          </a:p>
        </p:txBody>
      </p:sp>
      <p:sp>
        <p:nvSpPr>
          <p:cNvPr id="10" name="ok"/>
          <p:cNvSpPr/>
          <p:nvPr/>
        </p:nvSpPr>
        <p:spPr>
          <a:xfrm>
            <a:off x="365760" y="1051560"/>
            <a:ext cx="11430000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168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ag"/>
          <p:cNvSpPr txBox="1"/>
          <p:nvPr/>
        </p:nvSpPr>
        <p:spPr>
          <a:xfrm>
            <a:off x="594360" y="12618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68A4B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सही उत्तर</a:t>
            </a:r>
            <a:endParaRPr lang="hi-IN" sz="1400"/>
          </a:p>
        </p:txBody>
      </p:sp>
      <p:sp>
        <p:nvSpPr>
          <p:cNvPr id="12" name="big"/>
          <p:cNvSpPr txBox="1"/>
          <p:nvPr/>
        </p:nvSpPr>
        <p:spPr>
          <a:xfrm>
            <a:off x="594360" y="1783080"/>
            <a:ext cx="10972800" cy="1005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20000" rIns="20000" bIns="20000" rtlCol="0" anchor="ctr">
            <a:spAutoFit/>
          </a:bodyPr>
          <a:lstStyle/>
          <a:p>
            <a:pPr algn="l"/>
            <a:r>
              <a:rPr lang="hi-IN" altLang="en-US" sz="2400" b="1" dirty="0">
                <a:solidFill>
                  <a:srgbClr val="168A4B"/>
                </a:solidFill>
                <a:latin typeface="Nirmala UI"/>
                <a:ea typeface="Nirmala UI"/>
                <a:cs typeface="Nirmala UI"/>
              </a:rPr>
              <a:t>(क)   100 दिन</a:t>
            </a:r>
            <a:endParaRPr lang="hi-IN" sz="2400"/>
          </a:p>
        </p:txBody>
      </p:sp>
      <p:sp>
        <p:nvSpPr>
          <p:cNvPr id="13" name="whyh"/>
          <p:cNvSpPr txBox="1"/>
          <p:nvPr/>
        </p:nvSpPr>
        <p:spPr>
          <a:xfrm>
            <a:off x="365760" y="3200400"/>
            <a:ext cx="11430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80000" tIns="8000" rIns="80000" bIns="8000" rtlCol="0" anchor="ctr">
            <a:spAutoFit/>
          </a:bodyPr>
          <a:lstStyle/>
          <a:p>
            <a:pPr algn="l"/>
            <a:r>
              <a:rPr lang="hi-IN" altLang="en-US" sz="15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आसान व्याख्या  —  परीक्षा में ऐसे लिखिए</a:t>
            </a:r>
            <a:endParaRPr lang="hi-IN" sz="1500"/>
          </a:p>
        </p:txBody>
      </p:sp>
      <p:sp>
        <p:nvSpPr>
          <p:cNvPr id="14" name="why"/>
          <p:cNvSpPr txBox="1"/>
          <p:nvPr/>
        </p:nvSpPr>
        <p:spPr>
          <a:xfrm>
            <a:off x="365760" y="3794760"/>
            <a:ext cx="11430000" cy="2468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C53D"/>
            </a:solidFill>
            <a:prstDash val="solid"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l"/>
            <a:r>
              <a:rPr lang="hi-IN" altLang="en-US" sz="18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NREGA (बाद में मनरेगा) ग्रामीण परिवारों को एक वित्तीय वर्ष में कम-से-कम 100 दिनों के अकुशल मजदूरी रोज़गार की कानूनी गारंटी देता है।</a:t>
            </a:r>
            <a:endParaRPr lang="hi-IN" sz="18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त्वरित उत्तर कुंजी  •  15/15</a:t>
            </a:r>
            <a:endParaRPr lang="hi-IN" sz="1400"/>
          </a:p>
        </p:txBody>
      </p:sp>
      <p:sp>
        <p:nvSpPr>
          <p:cNvPr id="20" name="k"/>
          <p:cNvSpPr/>
          <p:nvPr/>
        </p:nvSpPr>
        <p:spPr>
          <a:xfrm>
            <a:off x="320040" y="987552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n"/>
          <p:cNvSpPr txBox="1"/>
          <p:nvPr/>
        </p:nvSpPr>
        <p:spPr>
          <a:xfrm>
            <a:off x="411480" y="1060704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Q01</a:t>
            </a:r>
            <a:endParaRPr lang="hi-IN" sz="1200"/>
          </a:p>
        </p:txBody>
      </p:sp>
      <p:sp>
        <p:nvSpPr>
          <p:cNvPr id="22" name="a"/>
          <p:cNvSpPr txBox="1"/>
          <p:nvPr/>
        </p:nvSpPr>
        <p:spPr>
          <a:xfrm>
            <a:off x="1325880" y="1042416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सोने की चिड़िया</a:t>
            </a:r>
            <a:endParaRPr lang="hi-IN" sz="1300"/>
          </a:p>
        </p:txBody>
      </p:sp>
      <p:sp>
        <p:nvSpPr>
          <p:cNvPr id="23" name="k"/>
          <p:cNvSpPr/>
          <p:nvPr/>
        </p:nvSpPr>
        <p:spPr>
          <a:xfrm>
            <a:off x="320040" y="1645920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"/>
          <p:cNvSpPr txBox="1"/>
          <p:nvPr/>
        </p:nvSpPr>
        <p:spPr>
          <a:xfrm>
            <a:off x="411480" y="1719072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Q02</a:t>
            </a:r>
            <a:endParaRPr lang="hi-IN" sz="1200"/>
          </a:p>
        </p:txBody>
      </p:sp>
      <p:sp>
        <p:nvSpPr>
          <p:cNvPr id="25" name="a"/>
          <p:cNvSpPr txBox="1"/>
          <p:nvPr/>
        </p:nvSpPr>
        <p:spPr>
          <a:xfrm>
            <a:off x="1325880" y="1700784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(ख)  लगभग 200 वर्ष</a:t>
            </a:r>
            <a:endParaRPr lang="hi-IN" sz="1300"/>
          </a:p>
        </p:txBody>
      </p:sp>
      <p:sp>
        <p:nvSpPr>
          <p:cNvPr id="26" name="k"/>
          <p:cNvSpPr/>
          <p:nvPr/>
        </p:nvSpPr>
        <p:spPr>
          <a:xfrm>
            <a:off x="320040" y="2304288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n"/>
          <p:cNvSpPr txBox="1"/>
          <p:nvPr/>
        </p:nvSpPr>
        <p:spPr>
          <a:xfrm>
            <a:off x="411480" y="2377440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Q03</a:t>
            </a:r>
            <a:endParaRPr lang="hi-IN" sz="1200"/>
          </a:p>
        </p:txBody>
      </p:sp>
      <p:sp>
        <p:nvSpPr>
          <p:cNvPr id="28" name="a"/>
          <p:cNvSpPr txBox="1"/>
          <p:nvPr/>
        </p:nvSpPr>
        <p:spPr>
          <a:xfrm>
            <a:off x="1325880" y="2359152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ब्राउन (Brown)</a:t>
            </a:r>
            <a:endParaRPr lang="hi-IN" sz="1300"/>
          </a:p>
        </p:txBody>
      </p:sp>
      <p:sp>
        <p:nvSpPr>
          <p:cNvPr id="29" name="k"/>
          <p:cNvSpPr/>
          <p:nvPr/>
        </p:nvSpPr>
        <p:spPr>
          <a:xfrm>
            <a:off x="320040" y="2962656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"/>
          <p:cNvSpPr txBox="1"/>
          <p:nvPr/>
        </p:nvSpPr>
        <p:spPr>
          <a:xfrm>
            <a:off x="411480" y="3035808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Q04</a:t>
            </a:r>
            <a:endParaRPr lang="hi-IN" sz="1200"/>
          </a:p>
        </p:txBody>
      </p:sp>
      <p:sp>
        <p:nvSpPr>
          <p:cNvPr id="31" name="a"/>
          <p:cNvSpPr txBox="1"/>
          <p:nvPr/>
        </p:nvSpPr>
        <p:spPr>
          <a:xfrm>
            <a:off x="1325880" y="3017520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प्राथमिक क्षेत्र</a:t>
            </a:r>
            <a:endParaRPr lang="hi-IN" sz="1300"/>
          </a:p>
        </p:txBody>
      </p:sp>
      <p:sp>
        <p:nvSpPr>
          <p:cNvPr id="32" name="k"/>
          <p:cNvSpPr/>
          <p:nvPr/>
        </p:nvSpPr>
        <p:spPr>
          <a:xfrm>
            <a:off x="320040" y="3621024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n"/>
          <p:cNvSpPr txBox="1"/>
          <p:nvPr/>
        </p:nvSpPr>
        <p:spPr>
          <a:xfrm>
            <a:off x="411480" y="3694176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Q05</a:t>
            </a:r>
            <a:endParaRPr lang="hi-IN" sz="1200"/>
          </a:p>
        </p:txBody>
      </p:sp>
      <p:sp>
        <p:nvSpPr>
          <p:cNvPr id="34" name="a"/>
          <p:cNvSpPr txBox="1"/>
          <p:nvPr/>
        </p:nvSpPr>
        <p:spPr>
          <a:xfrm>
            <a:off x="1325880" y="3675888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औद्योगिक क्षेत्र</a:t>
            </a:r>
            <a:endParaRPr lang="hi-IN" sz="1300"/>
          </a:p>
        </p:txBody>
      </p:sp>
      <p:sp>
        <p:nvSpPr>
          <p:cNvPr id="35" name="k"/>
          <p:cNvSpPr/>
          <p:nvPr/>
        </p:nvSpPr>
        <p:spPr>
          <a:xfrm>
            <a:off x="320040" y="4279392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"/>
          <p:cNvSpPr txBox="1"/>
          <p:nvPr/>
        </p:nvSpPr>
        <p:spPr>
          <a:xfrm>
            <a:off x="411480" y="4352544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Q06</a:t>
            </a:r>
            <a:endParaRPr lang="hi-IN" sz="1200"/>
          </a:p>
        </p:txBody>
      </p:sp>
      <p:sp>
        <p:nvSpPr>
          <p:cNvPr id="37" name="a"/>
          <p:cNvSpPr txBox="1"/>
          <p:nvPr/>
        </p:nvSpPr>
        <p:spPr>
          <a:xfrm>
            <a:off x="1325880" y="4334256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(ख)  तृतीयक क्षेत्र (सेवा क्षेत…</a:t>
            </a:r>
            <a:endParaRPr lang="hi-IN" sz="1300"/>
          </a:p>
        </p:txBody>
      </p:sp>
      <p:sp>
        <p:nvSpPr>
          <p:cNvPr id="38" name="k"/>
          <p:cNvSpPr/>
          <p:nvPr/>
        </p:nvSpPr>
        <p:spPr>
          <a:xfrm>
            <a:off x="320040" y="4937760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n"/>
          <p:cNvSpPr txBox="1"/>
          <p:nvPr/>
        </p:nvSpPr>
        <p:spPr>
          <a:xfrm>
            <a:off x="411480" y="5010912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Q07</a:t>
            </a:r>
            <a:endParaRPr lang="hi-IN" sz="1200"/>
          </a:p>
        </p:txBody>
      </p:sp>
      <p:sp>
        <p:nvSpPr>
          <p:cNvPr id="40" name="a"/>
          <p:cNvSpPr txBox="1"/>
          <p:nvPr/>
        </p:nvSpPr>
        <p:spPr>
          <a:xfrm>
            <a:off x="1325880" y="4992624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(ख)  मिश्रित अर्थव्यवस्था</a:t>
            </a:r>
            <a:endParaRPr lang="hi-IN" sz="1300"/>
          </a:p>
        </p:txBody>
      </p:sp>
      <p:sp>
        <p:nvSpPr>
          <p:cNvPr id="41" name="k"/>
          <p:cNvSpPr/>
          <p:nvPr/>
        </p:nvSpPr>
        <p:spPr>
          <a:xfrm>
            <a:off x="320040" y="5596128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n"/>
          <p:cNvSpPr txBox="1"/>
          <p:nvPr/>
        </p:nvSpPr>
        <p:spPr>
          <a:xfrm>
            <a:off x="411480" y="5669280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Q08</a:t>
            </a:r>
            <a:endParaRPr lang="hi-IN" sz="1200"/>
          </a:p>
        </p:txBody>
      </p:sp>
      <p:sp>
        <p:nvSpPr>
          <p:cNvPr id="43" name="a"/>
          <p:cNvSpPr txBox="1"/>
          <p:nvPr/>
        </p:nvSpPr>
        <p:spPr>
          <a:xfrm>
            <a:off x="1325880" y="5650992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पूँजीवादी अर्थव्यवस्था</a:t>
            </a:r>
            <a:endParaRPr lang="hi-IN" sz="1300"/>
          </a:p>
        </p:txBody>
      </p:sp>
      <p:sp>
        <p:nvSpPr>
          <p:cNvPr id="44" name="k"/>
          <p:cNvSpPr/>
          <p:nvPr/>
        </p:nvSpPr>
        <p:spPr>
          <a:xfrm>
            <a:off x="6263640" y="987552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n"/>
          <p:cNvSpPr txBox="1"/>
          <p:nvPr/>
        </p:nvSpPr>
        <p:spPr>
          <a:xfrm>
            <a:off x="6355080" y="1060704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Q09</a:t>
            </a:r>
            <a:endParaRPr lang="hi-IN" sz="1200"/>
          </a:p>
        </p:txBody>
      </p:sp>
      <p:sp>
        <p:nvSpPr>
          <p:cNvPr id="46" name="a"/>
          <p:cNvSpPr txBox="1"/>
          <p:nvPr/>
        </p:nvSpPr>
        <p:spPr>
          <a:xfrm>
            <a:off x="7269480" y="1042416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15 मार्च 1950</a:t>
            </a:r>
            <a:endParaRPr lang="hi-IN" sz="1300"/>
          </a:p>
        </p:txBody>
      </p:sp>
      <p:sp>
        <p:nvSpPr>
          <p:cNvPr id="47" name="k"/>
          <p:cNvSpPr/>
          <p:nvPr/>
        </p:nvSpPr>
        <p:spPr>
          <a:xfrm>
            <a:off x="6263640" y="1645920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n"/>
          <p:cNvSpPr txBox="1"/>
          <p:nvPr/>
        </p:nvSpPr>
        <p:spPr>
          <a:xfrm>
            <a:off x="6355080" y="1719072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Q10</a:t>
            </a:r>
            <a:endParaRPr lang="hi-IN" sz="1200"/>
          </a:p>
        </p:txBody>
      </p:sp>
      <p:sp>
        <p:nvSpPr>
          <p:cNvPr id="49" name="a"/>
          <p:cNvSpPr txBox="1"/>
          <p:nvPr/>
        </p:nvSpPr>
        <p:spPr>
          <a:xfrm>
            <a:off x="7269480" y="1700784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देश के प्रधानमंत्री</a:t>
            </a:r>
            <a:endParaRPr lang="hi-IN" sz="1300"/>
          </a:p>
        </p:txBody>
      </p:sp>
      <p:sp>
        <p:nvSpPr>
          <p:cNvPr id="50" name="k"/>
          <p:cNvSpPr/>
          <p:nvPr/>
        </p:nvSpPr>
        <p:spPr>
          <a:xfrm>
            <a:off x="6263640" y="2304288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n"/>
          <p:cNvSpPr txBox="1"/>
          <p:nvPr/>
        </p:nvSpPr>
        <p:spPr>
          <a:xfrm>
            <a:off x="6355080" y="2377440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Q11</a:t>
            </a:r>
            <a:endParaRPr lang="hi-IN" sz="1200"/>
          </a:p>
        </p:txBody>
      </p:sp>
      <p:sp>
        <p:nvSpPr>
          <p:cNvPr id="52" name="a"/>
          <p:cNvSpPr txBox="1"/>
          <p:nvPr/>
        </p:nvSpPr>
        <p:spPr>
          <a:xfrm>
            <a:off x="7269480" y="2359152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6 अगस्त 1952</a:t>
            </a:r>
            <a:endParaRPr lang="hi-IN" sz="1300"/>
          </a:p>
        </p:txBody>
      </p:sp>
      <p:sp>
        <p:nvSpPr>
          <p:cNvPr id="53" name="k"/>
          <p:cNvSpPr/>
          <p:nvPr/>
        </p:nvSpPr>
        <p:spPr>
          <a:xfrm>
            <a:off x="6263640" y="2962656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n"/>
          <p:cNvSpPr txBox="1"/>
          <p:nvPr/>
        </p:nvSpPr>
        <p:spPr>
          <a:xfrm>
            <a:off x="6355080" y="3035808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Q12</a:t>
            </a:r>
            <a:endParaRPr lang="hi-IN" sz="1200"/>
          </a:p>
        </p:txBody>
      </p:sp>
      <p:sp>
        <p:nvSpPr>
          <p:cNvPr id="55" name="a"/>
          <p:cNvSpPr txBox="1"/>
          <p:nvPr/>
        </p:nvSpPr>
        <p:spPr>
          <a:xfrm>
            <a:off x="7269480" y="3017520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Automatic Teller Machine</a:t>
            </a:r>
            <a:endParaRPr lang="hi-IN" sz="1300"/>
          </a:p>
        </p:txBody>
      </p:sp>
      <p:sp>
        <p:nvSpPr>
          <p:cNvPr id="56" name="k"/>
          <p:cNvSpPr/>
          <p:nvPr/>
        </p:nvSpPr>
        <p:spPr>
          <a:xfrm>
            <a:off x="6263640" y="3621024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n"/>
          <p:cNvSpPr txBox="1"/>
          <p:nvPr/>
        </p:nvSpPr>
        <p:spPr>
          <a:xfrm>
            <a:off x="6355080" y="3694176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Q13</a:t>
            </a:r>
            <a:endParaRPr lang="hi-IN" sz="1200"/>
          </a:p>
        </p:txBody>
      </p:sp>
      <p:sp>
        <p:nvSpPr>
          <p:cNvPr id="58" name="a"/>
          <p:cNvSpPr txBox="1"/>
          <p:nvPr/>
        </p:nvSpPr>
        <p:spPr>
          <a:xfrm>
            <a:off x="7269480" y="3675888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प्रति व्यक्ति आय (Per Capi…</a:t>
            </a:r>
            <a:endParaRPr lang="hi-IN" sz="1300"/>
          </a:p>
        </p:txBody>
      </p:sp>
      <p:sp>
        <p:nvSpPr>
          <p:cNvPr id="59" name="k"/>
          <p:cNvSpPr/>
          <p:nvPr/>
        </p:nvSpPr>
        <p:spPr>
          <a:xfrm>
            <a:off x="6263640" y="4279392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n"/>
          <p:cNvSpPr txBox="1"/>
          <p:nvPr/>
        </p:nvSpPr>
        <p:spPr>
          <a:xfrm>
            <a:off x="6355080" y="4352544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4C2FB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Q14</a:t>
            </a:r>
            <a:endParaRPr lang="hi-IN" sz="1200"/>
          </a:p>
        </p:txBody>
      </p:sp>
      <p:sp>
        <p:nvSpPr>
          <p:cNvPr id="61" name="a"/>
          <p:cNvSpPr txBox="1"/>
          <p:nvPr/>
        </p:nvSpPr>
        <p:spPr>
          <a:xfrm>
            <a:off x="7269480" y="4334256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(ख)  कृषि</a:t>
            </a:r>
            <a:endParaRPr lang="hi-IN" sz="1300"/>
          </a:p>
        </p:txBody>
      </p:sp>
      <p:sp>
        <p:nvSpPr>
          <p:cNvPr id="62" name="k"/>
          <p:cNvSpPr/>
          <p:nvPr/>
        </p:nvSpPr>
        <p:spPr>
          <a:xfrm>
            <a:off x="6263640" y="4937760"/>
            <a:ext cx="57607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n"/>
          <p:cNvSpPr txBox="1"/>
          <p:nvPr/>
        </p:nvSpPr>
        <p:spPr>
          <a:xfrm>
            <a:off x="6355080" y="5010912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>
            <a:noFill/>
          </a:ln>
        </p:spPr>
        <p:txBody>
          <a:bodyPr wrap="square" lIns="10000" tIns="6000" rIns="10000" bIns="6000" rtlCol="0" anchor="ctr">
            <a:spAutoFit/>
          </a:bodyPr>
          <a:lstStyle/>
          <a:p>
            <a:pPr algn="ctr"/>
            <a:r>
              <a:rPr lang="hi-IN" alt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Q15</a:t>
            </a:r>
            <a:endParaRPr lang="hi-IN" sz="1200"/>
          </a:p>
        </p:txBody>
      </p:sp>
      <p:sp>
        <p:nvSpPr>
          <p:cNvPr id="64" name="a"/>
          <p:cNvSpPr txBox="1"/>
          <p:nvPr/>
        </p:nvSpPr>
        <p:spPr>
          <a:xfrm>
            <a:off x="7269480" y="4992624"/>
            <a:ext cx="4617720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3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(क)  100 दिन</a:t>
            </a:r>
            <a:endParaRPr lang="hi-IN" sz="1300"/>
          </a:p>
        </p:txBody>
      </p:sp>
      <p:sp>
        <p:nvSpPr>
          <p:cNvPr id="9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9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परीक्षा टिप  —  इन्हें रट लीजिए</a:t>
            </a:r>
            <a:endParaRPr lang="hi-IN" sz="1400"/>
          </a:p>
        </p:txBody>
      </p:sp>
      <p:sp>
        <p:nvSpPr>
          <p:cNvPr id="20" name="t"/>
          <p:cNvSpPr/>
          <p:nvPr/>
        </p:nvSpPr>
        <p:spPr>
          <a:xfrm>
            <a:off x="365760" y="105156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"/>
          <p:cNvSpPr txBox="1"/>
          <p:nvPr/>
        </p:nvSpPr>
        <p:spPr>
          <a:xfrm>
            <a:off x="548640" y="116128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FF7A18"/>
                </a:solidFill>
                <a:latin typeface="Nirmala UI"/>
                <a:ea typeface="Nirmala UI"/>
                <a:cs typeface="Nirmala UI"/>
              </a:rPr>
              <a:t>सोने की चिड़िया</a:t>
            </a:r>
            <a:endParaRPr lang="hi-IN" sz="1700"/>
          </a:p>
        </p:txBody>
      </p:sp>
      <p:sp>
        <p:nvSpPr>
          <p:cNvPr id="22" name="b"/>
          <p:cNvSpPr txBox="1"/>
          <p:nvPr/>
        </p:nvSpPr>
        <p:spPr>
          <a:xfrm>
            <a:off x="548640" y="160020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अंग्रेजों से पहले का भारत</a:t>
            </a:r>
            <a:endParaRPr lang="hi-IN" sz="1400"/>
          </a:p>
        </p:txBody>
      </p:sp>
      <p:sp>
        <p:nvSpPr>
          <p:cNvPr id="23" name="t"/>
          <p:cNvSpPr/>
          <p:nvPr/>
        </p:nvSpPr>
        <p:spPr>
          <a:xfrm>
            <a:off x="6263640" y="105156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"/>
          <p:cNvSpPr txBox="1"/>
          <p:nvPr/>
        </p:nvSpPr>
        <p:spPr>
          <a:xfrm>
            <a:off x="6446520" y="116128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FF7A18"/>
                </a:solidFill>
                <a:latin typeface="Nirmala UI"/>
                <a:ea typeface="Nirmala UI"/>
                <a:cs typeface="Nirmala UI"/>
              </a:rPr>
              <a:t>≈ 200 वर्ष</a:t>
            </a:r>
            <a:endParaRPr lang="hi-IN" sz="1700"/>
          </a:p>
        </p:txBody>
      </p:sp>
      <p:sp>
        <p:nvSpPr>
          <p:cNvPr id="25" name="b"/>
          <p:cNvSpPr txBox="1"/>
          <p:nvPr/>
        </p:nvSpPr>
        <p:spPr>
          <a:xfrm>
            <a:off x="6446520" y="160020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ब्रिटिश शासन / उपनिवेश</a:t>
            </a:r>
            <a:endParaRPr lang="hi-IN" sz="1400"/>
          </a:p>
        </p:txBody>
      </p:sp>
      <p:sp>
        <p:nvSpPr>
          <p:cNvPr id="26" name="t"/>
          <p:cNvSpPr/>
          <p:nvPr/>
        </p:nvSpPr>
        <p:spPr>
          <a:xfrm>
            <a:off x="365760" y="228600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"/>
          <p:cNvSpPr txBox="1"/>
          <p:nvPr/>
        </p:nvSpPr>
        <p:spPr>
          <a:xfrm>
            <a:off x="548640" y="239572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4C2FB8"/>
                </a:solidFill>
                <a:latin typeface="Nirmala UI"/>
                <a:ea typeface="Nirmala UI"/>
                <a:cs typeface="Nirmala UI"/>
              </a:rPr>
              <a:t>ब्राउन</a:t>
            </a:r>
            <a:endParaRPr lang="hi-IN" sz="1700"/>
          </a:p>
        </p:txBody>
      </p:sp>
      <p:sp>
        <p:nvSpPr>
          <p:cNvPr id="28" name="b"/>
          <p:cNvSpPr txBox="1"/>
          <p:nvPr/>
        </p:nvSpPr>
        <p:spPr>
          <a:xfrm>
            <a:off x="548640" y="283464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अर्थव्यवस्था = आजीविका अर्जन की प्रणाली</a:t>
            </a:r>
            <a:endParaRPr lang="hi-IN" sz="1400"/>
          </a:p>
        </p:txBody>
      </p:sp>
      <p:sp>
        <p:nvSpPr>
          <p:cNvPr id="29" name="t"/>
          <p:cNvSpPr/>
          <p:nvPr/>
        </p:nvSpPr>
        <p:spPr>
          <a:xfrm>
            <a:off x="6263640" y="228600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C2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"/>
          <p:cNvSpPr txBox="1"/>
          <p:nvPr/>
        </p:nvSpPr>
        <p:spPr>
          <a:xfrm>
            <a:off x="6446520" y="239572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4C2FB8"/>
                </a:solidFill>
                <a:latin typeface="Nirmala UI"/>
                <a:ea typeface="Nirmala UI"/>
                <a:cs typeface="Nirmala UI"/>
              </a:rPr>
              <a:t>तीन क्षेत्र</a:t>
            </a:r>
            <a:endParaRPr lang="hi-IN" sz="1700"/>
          </a:p>
        </p:txBody>
      </p:sp>
      <p:sp>
        <p:nvSpPr>
          <p:cNvPr id="31" name="b"/>
          <p:cNvSpPr txBox="1"/>
          <p:nvPr/>
        </p:nvSpPr>
        <p:spPr>
          <a:xfrm>
            <a:off x="6446520" y="283464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प्राथमिक • द्वितीयक=औद्योगिक • तृतीयक=सेवा</a:t>
            </a:r>
            <a:endParaRPr lang="hi-IN" sz="1400"/>
          </a:p>
        </p:txBody>
      </p:sp>
      <p:sp>
        <p:nvSpPr>
          <p:cNvPr id="32" name="t"/>
          <p:cNvSpPr/>
          <p:nvPr/>
        </p:nvSpPr>
        <p:spPr>
          <a:xfrm>
            <a:off x="365760" y="352044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"/>
          <p:cNvSpPr txBox="1"/>
          <p:nvPr/>
        </p:nvSpPr>
        <p:spPr>
          <a:xfrm>
            <a:off x="548640" y="363016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0D9B8A"/>
                </a:solidFill>
                <a:latin typeface="Nirmala UI"/>
                <a:ea typeface="Nirmala UI"/>
                <a:cs typeface="Nirmala UI"/>
              </a:rPr>
              <a:t>भारत = मिश्रित</a:t>
            </a:r>
            <a:endParaRPr lang="hi-IN" sz="1700"/>
          </a:p>
        </p:txBody>
      </p:sp>
      <p:sp>
        <p:nvSpPr>
          <p:cNvPr id="34" name="b"/>
          <p:cNvSpPr txBox="1"/>
          <p:nvPr/>
        </p:nvSpPr>
        <p:spPr>
          <a:xfrm>
            <a:off x="548640" y="406908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अमेरिका–जापान = पूँजीवादी</a:t>
            </a:r>
            <a:endParaRPr lang="hi-IN" sz="1400"/>
          </a:p>
        </p:txBody>
      </p:sp>
      <p:sp>
        <p:nvSpPr>
          <p:cNvPr id="35" name="t"/>
          <p:cNvSpPr/>
          <p:nvPr/>
        </p:nvSpPr>
        <p:spPr>
          <a:xfrm>
            <a:off x="6263640" y="352044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D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"/>
          <p:cNvSpPr txBox="1"/>
          <p:nvPr/>
        </p:nvSpPr>
        <p:spPr>
          <a:xfrm>
            <a:off x="6446520" y="363016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0D9B8A"/>
                </a:solidFill>
                <a:latin typeface="Nirmala UI"/>
                <a:ea typeface="Nirmala UI"/>
                <a:cs typeface="Nirmala UI"/>
              </a:rPr>
              <a:t>15 मार्च 1950</a:t>
            </a:r>
            <a:endParaRPr lang="hi-IN" sz="1700"/>
          </a:p>
        </p:txBody>
      </p:sp>
      <p:sp>
        <p:nvSpPr>
          <p:cNvPr id="37" name="b"/>
          <p:cNvSpPr txBox="1"/>
          <p:nvPr/>
        </p:nvSpPr>
        <p:spPr>
          <a:xfrm>
            <a:off x="6446520" y="406908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योजना आयोग  |  अध्यक्ष = प्रधानमंत्री</a:t>
            </a:r>
            <a:endParaRPr lang="hi-IN" sz="1400"/>
          </a:p>
        </p:txBody>
      </p:sp>
      <p:sp>
        <p:nvSpPr>
          <p:cNvPr id="38" name="t"/>
          <p:cNvSpPr/>
          <p:nvPr/>
        </p:nvSpPr>
        <p:spPr>
          <a:xfrm>
            <a:off x="365760" y="475488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"/>
          <p:cNvSpPr txBox="1"/>
          <p:nvPr/>
        </p:nvSpPr>
        <p:spPr>
          <a:xfrm>
            <a:off x="548640" y="486460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E11D74"/>
                </a:solidFill>
                <a:latin typeface="Nirmala UI"/>
                <a:ea typeface="Nirmala UI"/>
                <a:cs typeface="Nirmala UI"/>
              </a:rPr>
              <a:t>6 अगस्त 1952</a:t>
            </a:r>
            <a:endParaRPr lang="hi-IN" sz="1700"/>
          </a:p>
        </p:txBody>
      </p:sp>
      <p:sp>
        <p:nvSpPr>
          <p:cNvPr id="40" name="b"/>
          <p:cNvSpPr txBox="1"/>
          <p:nvPr/>
        </p:nvSpPr>
        <p:spPr>
          <a:xfrm>
            <a:off x="548640" y="530352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NDC  |  ATM = Automatic Teller Machine</a:t>
            </a:r>
            <a:endParaRPr lang="hi-IN" sz="1400"/>
          </a:p>
        </p:txBody>
      </p:sp>
      <p:sp>
        <p:nvSpPr>
          <p:cNvPr id="41" name="t"/>
          <p:cNvSpPr/>
          <p:nvPr/>
        </p:nvSpPr>
        <p:spPr>
          <a:xfrm>
            <a:off x="6263640" y="4754880"/>
            <a:ext cx="5715000" cy="1115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11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"/>
          <p:cNvSpPr txBox="1"/>
          <p:nvPr/>
        </p:nvSpPr>
        <p:spPr>
          <a:xfrm>
            <a:off x="6446520" y="4864608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700" b="1" dirty="0">
                <a:solidFill>
                  <a:srgbClr val="E11D74"/>
                </a:solidFill>
                <a:latin typeface="Nirmala UI"/>
                <a:ea typeface="Nirmala UI"/>
                <a:cs typeface="Nirmala UI"/>
              </a:rPr>
              <a:t>बिहार = कृषि</a:t>
            </a:r>
            <a:endParaRPr lang="hi-IN" sz="1700"/>
          </a:p>
        </p:txBody>
      </p:sp>
      <p:sp>
        <p:nvSpPr>
          <p:cNvPr id="43" name="b"/>
          <p:cNvSpPr txBox="1"/>
          <p:nvPr/>
        </p:nvSpPr>
        <p:spPr>
          <a:xfrm>
            <a:off x="6446520" y="5303520"/>
            <a:ext cx="534924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20000" tIns="8000" rIns="20000" bIns="8000" rtlCol="0" anchor="ctr">
            <a:spAutoFit/>
          </a:bodyPr>
          <a:lstStyle/>
          <a:p>
            <a:pPr algn="l"/>
            <a:r>
              <a:rPr lang="hi-IN" altLang="en-US" sz="1400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NREGA = 100 दिन  |  विकास सूचक = प्रति व्यक्ति आय</a:t>
            </a:r>
            <a:endParaRPr lang="hi-IN" sz="14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lob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FF7A1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lob"/>
          <p:cNvSpPr/>
          <p:nvPr/>
        </p:nvSpPr>
        <p:spPr>
          <a:xfrm>
            <a:off x="9326880" y="-1371600"/>
            <a:ext cx="4206240" cy="4206240"/>
          </a:xfrm>
          <a:prstGeom prst="ellipse">
            <a:avLst/>
          </a:prstGeom>
          <a:solidFill>
            <a:srgbClr val="FFC53D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lob"/>
          <p:cNvSpPr/>
          <p:nvPr/>
        </p:nvSpPr>
        <p:spPr>
          <a:xfrm>
            <a:off x="9875520" y="4572000"/>
            <a:ext cx="3200400" cy="3200400"/>
          </a:xfrm>
          <a:prstGeom prst="ellipse">
            <a:avLst/>
          </a:prstGeom>
          <a:solidFill>
            <a:srgbClr val="E11D74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adge"/>
          <p:cNvSpPr txBox="1"/>
          <p:nvPr/>
        </p:nvSpPr>
        <p:spPr>
          <a:xfrm>
            <a:off x="3794760" y="105156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14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EPISODE 01  COMPLETE</a:t>
            </a:r>
            <a:endParaRPr lang="hi-IN" sz="1400"/>
          </a:p>
        </p:txBody>
      </p:sp>
      <p:sp>
        <p:nvSpPr>
          <p:cNvPr id="7" name="h"/>
          <p:cNvSpPr txBox="1"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36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धन्यवाद  •  अभ्यास जारी रखिए</a:t>
            </a:r>
            <a:endParaRPr lang="hi-IN" sz="3600"/>
          </a:p>
        </p:txBody>
      </p:sp>
      <p:sp>
        <p:nvSpPr>
          <p:cNvPr id="8" name="sub"/>
          <p:cNvSpPr txBox="1"/>
          <p:nvPr/>
        </p:nvSpPr>
        <p:spPr>
          <a:xfrm>
            <a:off x="1097280" y="3108960"/>
            <a:ext cx="9966960" cy="640080"/>
          </a:xfrm>
          <a:prstGeom prst="rect">
            <a:avLst/>
          </a:prstGeom>
          <a:solidFill>
            <a:srgbClr val="1A1048">
              <a:alpha val="0"/>
            </a:srgbClr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0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Like  •  Share  •  Subscribe  •  Bell आइकन दबाएँ</a:t>
            </a:r>
            <a:endParaRPr lang="hi-IN" sz="2000"/>
          </a:p>
        </p:txBody>
      </p:sp>
      <p:sp>
        <p:nvSpPr>
          <p:cNvPr id="9" name="box"/>
          <p:cNvSpPr txBox="1"/>
          <p:nvPr/>
        </p:nvSpPr>
        <p:spPr>
          <a:xfrm>
            <a:off x="2194560" y="3931920"/>
            <a:ext cx="7772400" cy="1417320"/>
          </a:xfrm>
          <a:prstGeom prst="roundRect">
            <a:avLst>
              <a:gd name="adj" fmla="val 18000"/>
            </a:avLst>
          </a:prstGeom>
          <a:solidFill>
            <a:srgbClr val="FF7A18"/>
          </a:solidFill>
          <a:ln>
            <a:noFill/>
          </a:ln>
        </p:spPr>
        <p:txBody>
          <a:bodyPr wrap="square" lIns="40000" tIns="30000" rIns="40000" bIns="30000" rtlCol="0" anchor="ctr">
            <a:spAutoFit/>
          </a:bodyPr>
          <a:lstStyle/>
          <a:p>
            <a:pPr algn="ctr"/>
            <a:r>
              <a:rPr lang="hi-IN" altLang="en-US" sz="2800" b="1" dirty="0">
                <a:solidFill>
                  <a:srgbClr val="1A1048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2800"/>
          </a:p>
          <a:p>
            <a:pPr algn="ctr"/>
            <a:r>
              <a:rPr lang="hi-IN" altLang="en-US" sz="14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संस्थान  •  YouTube चैनल  •  बिहार बोर्ड टेस्ट सीरीज़</a:t>
            </a:r>
            <a:endParaRPr lang="hi-IN" sz="1400"/>
          </a:p>
        </p:txBody>
      </p:sp>
      <p:sp>
        <p:nvSpPr>
          <p:cNvPr id="4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4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1A1048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FFD9A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op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affstrip"/>
          <p:cNvSpPr/>
          <p:nvPr/>
        </p:nvSpPr>
        <p:spPr>
          <a:xfrm>
            <a:off x="0" y="713232"/>
            <a:ext cx="12192000" cy="73152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strip"/>
          <p:cNvSpPr/>
          <p:nvPr/>
        </p:nvSpPr>
        <p:spPr>
          <a:xfrm>
            <a:off x="0" y="786384"/>
            <a:ext cx="12192000" cy="36576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/>
          <p:cNvSpPr txBox="1"/>
          <p:nvPr/>
        </p:nvSpPr>
        <p:spPr>
          <a:xfrm>
            <a:off x="320040" y="73152"/>
            <a:ext cx="493776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20000" tIns="10000" rIns="20000" bIns="10000" rtlCol="0" anchor="ctr">
            <a:spAutoFit/>
          </a:bodyPr>
          <a:lstStyle/>
          <a:p>
            <a:pPr algn="l"/>
            <a:r>
              <a:rPr lang="hi-IN" altLang="en-US" sz="1600" b="1" dirty="0">
                <a:solidFill>
                  <a:srgbClr val="FFC53D"/>
                </a:solidFill>
                <a:latin typeface="Nirmala UI"/>
                <a:ea typeface="Nirmala UI"/>
                <a:cs typeface="Nirmala UI"/>
              </a:rPr>
              <a:t>Bihar Board Wala</a:t>
            </a:r>
            <a:endParaRPr lang="hi-IN" sz="1600"/>
          </a:p>
        </p:txBody>
      </p:sp>
      <p:sp>
        <p:nvSpPr>
          <p:cNvPr id="7" name="htitle"/>
          <p:cNvSpPr txBox="1"/>
          <p:nvPr/>
        </p:nvSpPr>
        <p:spPr>
          <a:xfrm>
            <a:off x="5303520" y="73152"/>
            <a:ext cx="6492240" cy="585216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txBody>
          <a:bodyPr wrap="square" lIns="40000" tIns="10000" rIns="40000" bIns="10000" rtlCol="0" anchor="ctr">
            <a:spAutoFit/>
          </a:bodyPr>
          <a:lstStyle/>
          <a:p>
            <a:pPr algn="r"/>
            <a:r>
              <a:rPr lang="hi-IN" altLang="en-US" sz="1400" b="1" dirty="0">
                <a:solidFill>
                  <a:srgbClr val="FFF6E8"/>
                </a:solidFill>
                <a:latin typeface="Nirmala UI"/>
                <a:ea typeface="Nirmala UI"/>
                <a:cs typeface="Nirmala UI"/>
              </a:rPr>
              <a:t>अगला एपिसोड जल्द</a:t>
            </a:r>
            <a:endParaRPr lang="hi-IN" sz="1400"/>
          </a:p>
        </p:txBody>
      </p:sp>
      <p:sp>
        <p:nvSpPr>
          <p:cNvPr id="10" name="card"/>
          <p:cNvSpPr/>
          <p:nvPr/>
        </p:nvSpPr>
        <p:spPr>
          <a:xfrm>
            <a:off x="1188720" y="1371600"/>
            <a:ext cx="97840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7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"/>
          <p:cNvSpPr txBox="1"/>
          <p:nvPr/>
        </p:nvSpPr>
        <p:spPr>
          <a:xfrm>
            <a:off x="1188720" y="1371600"/>
            <a:ext cx="9784080" cy="1097280"/>
          </a:xfrm>
          <a:prstGeom prst="roundRect">
            <a:avLst>
              <a:gd name="adj" fmla="val 0"/>
            </a:avLst>
          </a:prstGeom>
          <a:solidFill>
            <a:srgbClr val="FF7A18"/>
          </a:solidFill>
          <a:ln>
            <a:noFill/>
          </a:ln>
        </p:spPr>
        <p:txBody>
          <a:bodyPr wrap="square" lIns="140000" tIns="80000" rIns="140000" bIns="80000" rtlCol="0" anchor="ctr">
            <a:spAutoFit/>
          </a:bodyPr>
          <a:lstStyle/>
          <a:p>
            <a:pPr algn="ctr"/>
            <a:r>
              <a:rPr lang="hi-IN" altLang="en-US" sz="24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एपिसोड 02 में मिलेंगे</a:t>
            </a:r>
            <a:endParaRPr lang="hi-IN" sz="2400"/>
          </a:p>
        </p:txBody>
      </p:sp>
      <p:sp>
        <p:nvSpPr>
          <p:cNvPr id="12" name="b"/>
          <p:cNvSpPr txBox="1"/>
          <p:nvPr/>
        </p:nvSpPr>
        <p:spPr>
          <a:xfrm>
            <a:off x="1645920" y="2743200"/>
            <a:ext cx="8869680" cy="28346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hi-IN" altLang="en-US" sz="2000" b="1" dirty="0">
                <a:solidFill>
                  <a:srgbClr val="1F1635"/>
                </a:solidFill>
                <a:latin typeface="Nirmala UI"/>
                <a:ea typeface="Nirmala UI"/>
                <a:cs typeface="Nirmala UI"/>
              </a:rPr>
              <a:t>और महत्वपूर्ण MCQ  •  और भी तेज़ रिविज़न</a:t>
            </a:r>
            <a:endParaRPr lang="hi-IN" sz="2000"/>
          </a:p>
          <a:p>
            <a:pPr algn="ctr">
              <a:spcAft>
                <a:spcPts val="600"/>
              </a:spcAft>
            </a:pPr>
            <a:r>
              <a:rPr lang="hi-IN" altLang="en-US" sz="1800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Bihar Board Wala के साथ हर अध्याय कवर होगा।</a:t>
            </a:r>
            <a:endParaRPr lang="hi-IN" sz="1800"/>
          </a:p>
          <a:p>
            <a:pPr algn="ctr"/>
            <a:r>
              <a:rPr lang="hi-IN" altLang="en-US" sz="2000" b="1" dirty="0">
                <a:solidFill>
                  <a:srgbClr val="4C2FB8"/>
                </a:solidFill>
                <a:latin typeface="Nirmala UI"/>
                <a:ea typeface="Nirmala UI"/>
                <a:cs typeface="Nirmala UI"/>
              </a:rPr>
              <a:t>चैनल को Subscribe करना न भूलें।</a:t>
            </a:r>
            <a:endParaRPr lang="hi-IN" sz="2000"/>
          </a:p>
        </p:txBody>
      </p:sp>
      <p:sp>
        <p:nvSpPr>
          <p:cNvPr id="80" name="footer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ign"/>
          <p:cNvSpPr txBox="1"/>
          <p:nvPr/>
        </p:nvSpPr>
        <p:spPr>
          <a:xfrm>
            <a:off x="320040" y="6510528"/>
            <a:ext cx="777240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l"/>
            <a:r>
              <a:rPr lang="hi-IN" altLang="en-US" sz="1200" b="1" dirty="0">
                <a:solidFill>
                  <a:srgbClr val="2D1B69"/>
                </a:solidFill>
                <a:latin typeface="Nirmala UI"/>
                <a:ea typeface="Nirmala UI"/>
                <a:cs typeface="Nirmala UI"/>
              </a:rPr>
              <a:t>Bihar Board Wala  •  बिहार बोर्ड वाला  •  संस्थान एवं चैनल</a:t>
            </a:r>
            <a:endParaRPr lang="hi-IN" sz="1200"/>
          </a:p>
        </p:txBody>
      </p:sp>
      <p:sp>
        <p:nvSpPr>
          <p:cNvPr id="82" name="ep"/>
          <p:cNvSpPr txBox="1"/>
          <p:nvPr/>
        </p:nvSpPr>
        <p:spPr>
          <a:xfrm>
            <a:off x="8412480" y="6510528"/>
            <a:ext cx="3474720" cy="347472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txBody>
          <a:bodyPr wrap="square" lIns="40000" tIns="20000" rIns="40000" bIns="20000" rtlCol="0" anchor="ctr">
            <a:spAutoFit/>
          </a:bodyPr>
          <a:lstStyle/>
          <a:p>
            <a:pPr algn="r"/>
            <a:r>
              <a:rPr lang="hi-IN" altLang="en-US" sz="1100" b="1" dirty="0">
                <a:solidFill>
                  <a:srgbClr val="5C4E78"/>
                </a:solidFill>
                <a:latin typeface="Nirmala UI"/>
                <a:ea typeface="Nirmala UI"/>
                <a:cs typeface="Nirmala UI"/>
              </a:rPr>
              <a:t>एपिसोड 01  •  कक्षा 10 अर्थशास्त्र</a:t>
            </a:r>
            <a:endParaRPr lang="hi-I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har Board Wala">
  <a:themeElements>
    <a:clrScheme name="BBW Warm">
      <a:dk1>
        <a:srgbClr val="1F1635"/>
      </a:dk1>
      <a:lt1>
        <a:srgbClr val="FFF6E8"/>
      </a:lt1>
      <a:dk2>
        <a:srgbClr val="2D1B69"/>
      </a:dk2>
      <a:lt2>
        <a:srgbClr val="FFE8CC"/>
      </a:lt2>
      <a:accent1>
        <a:srgbClr val="FF7A18"/>
      </a:accent1>
      <a:accent2>
        <a:srgbClr val="4C2FB8"/>
      </a:accent2>
      <a:accent3>
        <a:srgbClr val="0D9B8A"/>
      </a:accent3>
      <a:accent4>
        <a:srgbClr val="FFC53D"/>
      </a:accent4>
      <a:accent5>
        <a:srgbClr val="E11D74"/>
      </a:accent5>
      <a:accent6>
        <a:srgbClr val="FF5A5F"/>
      </a:accent6>
      <a:hlink>
        <a:srgbClr val="4C2FB8"/>
      </a:hlink>
      <a:folHlink>
        <a:srgbClr val="2D1B69"/>
      </a:folHlink>
    </a:clrScheme>
    <a:fontScheme name="BBW">
      <a:majorFont>
        <a:latin typeface="Nirmala UI"/>
        <a:ea typeface="Nirmala UI"/>
        <a:cs typeface="Nirmala UI"/>
      </a:majorFont>
      <a:minorFont>
        <a:latin typeface="Nirmala UI"/>
        <a:ea typeface="Nirmala UI"/>
        <a:cs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Bihar Board Wala</Application>
  <Slides>42</Slides>
  <PresentationFormat>On-screen Show (16:9)</PresentationFormat>
  <Company>Bihar Board Wala</Company>
  <HeadingPairs>
    <vt:vector size="2" baseType="variant">
      <vt:variant>
        <vt:lpstr>Slide Titles</vt:lpstr>
      </vt:variant>
      <vt:variant>
        <vt:i4>42</vt:i4>
      </vt:variant>
    </vt:vector>
  </HeadingPairs>
  <TitlesOfParts>
    <vt:vector size="42" baseType="lpstr">
      <vt:lpstr>Title</vt:lpstr>
      <vt:lpstr>Welcome</vt:lpstr>
      <vt:lpstr>Agenda</vt:lpstr>
      <vt:lpstr>Three Sectors</vt:lpstr>
      <vt:lpstr>Economy Types</vt:lpstr>
      <vt:lpstr>Dates</vt:lpstr>
      <vt:lpstr>Bihar + Definition</vt:lpstr>
      <vt:lpstr>MCQ Intro</vt:lpstr>
      <vt:lpstr>Q01</vt:lpstr>
      <vt:lpstr>A01</vt:lpstr>
      <vt:lpstr>Q02</vt:lpstr>
      <vt:lpstr>A02</vt:lpstr>
      <vt:lpstr>Q03</vt:lpstr>
      <vt:lpstr>A03</vt:lpstr>
      <vt:lpstr>Q04</vt:lpstr>
      <vt:lpstr>A04</vt:lpstr>
      <vt:lpstr>Q05</vt:lpstr>
      <vt:lpstr>A05</vt:lpstr>
      <vt:lpstr>Q06</vt:lpstr>
      <vt:lpstr>A06</vt:lpstr>
      <vt:lpstr>Q07</vt:lpstr>
      <vt:lpstr>A07</vt:lpstr>
      <vt:lpstr>Q08</vt:lpstr>
      <vt:lpstr>A08</vt:lpstr>
      <vt:lpstr>Q09</vt:lpstr>
      <vt:lpstr>A09</vt:lpstr>
      <vt:lpstr>Q10</vt:lpstr>
      <vt:lpstr>A10</vt:lpstr>
      <vt:lpstr>Q11</vt:lpstr>
      <vt:lpstr>A11</vt:lpstr>
      <vt:lpstr>Q12</vt:lpstr>
      <vt:lpstr>A12</vt:lpstr>
      <vt:lpstr>Q13</vt:lpstr>
      <vt:lpstr>A13</vt:lpstr>
      <vt:lpstr>Q14</vt:lpstr>
      <vt:lpstr>A14</vt:lpstr>
      <vt:lpstr>Q15</vt:lpstr>
      <vt:lpstr>A15</vt:lpstr>
      <vt:lpstr>Answer Key</vt:lpstr>
      <vt:lpstr>Exam Tips</vt:lpstr>
      <vt:lpstr>Thanks</vt:lpstr>
      <vt:lpstr>Next Episode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एपिसोड 01 — अर्थव्यवस्था एवं इसके विकास का इतिहास</dc:title>
  <dc:subject>Bihar Board Class 10 Economics MCQ</dc:subject>
  <dc:creator>Bihar Board Wala</dc:creator>
  <cp:lastModifiedBy>Bihar Board Wala</cp:lastModifiedBy>
  <cp:category>YouTube First Episode</cp:category>
</cp:coreProperties>
</file>